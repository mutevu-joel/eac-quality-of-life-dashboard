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1" r:id="rId16"/>
    <p:sldId id="268" r:id="rId17"/>
    <p:sldId id="272" r:id="rId18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central question: did economic growth translate into longer lives and better access to education?</a:t>
            </a:r>
          </a:p>
          <a:p>
            <a:endParaRPr/>
          </a:p>
          <a:p>
            <a:r>
              <a:t>[Sources]</a:t>
            </a:r>
          </a:p>
          <a:p>
            <a:r>
              <a:t>- Assignment brief: Data Analytics Group Project-2.pdf</a:t>
            </a:r>
          </a:p>
          <a:p>
            <a:r>
              <a:t>- Official Strathmore University logo: https://strathmore.edu/wp-content/uploads/2023/08/University-Logo-01-1.png</a:t>
            </a:r>
          </a:p>
          <a:p>
            <a:r>
              <a:t>- Strathmore Brand Identity Guidelines, page 16: official blue #3848A2, gold #C79633, red #E52D2C, and yellow #F4CE67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hyperlink" Target="https://eac-quality-of-life-dashboard.streamlit.app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utevu-Joel/eac-quality-of-life-dash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48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rule-gold">
            <a:extLst>
              <a:ext uri="{FF2B5EF4-FFF2-40B4-BE49-F238E27FC236}">
                <a16:creationId xmlns:a16="http://schemas.microsoft.com/office/drawing/2014/main" id="{232CBBB7-923D-463D-B6BC-2FEA537DAF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79B951D3-9893-4879-85DC-C7DB7BA4854C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5AC66A58-DA96-44AB-B257-935022A55C4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D221AFD9-69E9-42B2-97B0-56EC4397B703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DATA ANALYTICS CAPSTONE · GROUP 1</a:t>
            </a:r>
          </a:p>
        </p:txBody>
      </p:sp>
      <p:sp>
        <p:nvSpPr>
          <p:cNvPr id="6" name="logo-clear-space">
            <a:extLst>
              <a:ext uri="{FF2B5EF4-FFF2-40B4-BE49-F238E27FC236}">
                <a16:creationId xmlns:a16="http://schemas.microsoft.com/office/drawing/2014/main" id="{A864D735-E068-4FD5-85A6-D4AB0D661871}"/>
              </a:ext>
            </a:extLst>
          </p:cNvPr>
          <p:cNvSpPr>
            <a:spLocks noGrp="1"/>
          </p:cNvSpPr>
          <p:nvPr/>
        </p:nvSpPr>
        <p:spPr>
          <a:xfrm>
            <a:off x="9925050" y="133350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8" name="footer-label">
            <a:extLst>
              <a:ext uri="{FF2B5EF4-FFF2-40B4-BE49-F238E27FC236}">
                <a16:creationId xmlns:a16="http://schemas.microsoft.com/office/drawing/2014/main" id="{E8D4EBD0-5BD4-43E8-A5AE-0BA4B08A62E1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9" name="footer-number">
            <a:extLst>
              <a:ext uri="{FF2B5EF4-FFF2-40B4-BE49-F238E27FC236}">
                <a16:creationId xmlns:a16="http://schemas.microsoft.com/office/drawing/2014/main" id="{A31E32F7-289D-4A29-BCBC-19B4E5B560D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title-subtitle">
            <a:extLst>
              <a:ext uri="{FF2B5EF4-FFF2-40B4-BE49-F238E27FC236}">
                <a16:creationId xmlns:a16="http://schemas.microsoft.com/office/drawing/2014/main" id="{582A14C5-34BF-416A-9712-F8DAF67E1DFF}"/>
              </a:ext>
            </a:extLst>
          </p:cNvPr>
          <p:cNvSpPr>
            <a:spLocks noGrp="1"/>
          </p:cNvSpPr>
          <p:nvPr/>
        </p:nvSpPr>
        <p:spPr>
          <a:xfrm>
            <a:off x="619125" y="876300"/>
            <a:ext cx="8286750" cy="1057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Economic growth and quality of life in East Africa</a:t>
            </a:r>
          </a:p>
        </p:txBody>
      </p:sp>
      <p:sp>
        <p:nvSpPr>
          <p:cNvPr id="11" name="title-context">
            <a:extLst>
              <a:ext uri="{FF2B5EF4-FFF2-40B4-BE49-F238E27FC236}">
                <a16:creationId xmlns:a16="http://schemas.microsoft.com/office/drawing/2014/main" id="{74C6F87A-5798-4E53-B589-83F7105C836A}"/>
              </a:ext>
            </a:extLst>
          </p:cNvPr>
          <p:cNvSpPr>
            <a:spLocks noGrp="1"/>
          </p:cNvSpPr>
          <p:nvPr/>
        </p:nvSpPr>
        <p:spPr>
          <a:xfrm>
            <a:off x="619125" y="16383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F4CE67"/>
                </a:solidFill>
                <a:latin typeface="Aptos"/>
                <a:ea typeface="Aptos"/>
                <a:cs typeface="Aptos"/>
              </a:rPr>
              <a:t>World Bank evidence for the East African Community · 2010</a:t>
            </a:r>
            <a:r>
              <a:rPr lang="en-US" sz="1725" b="0" dirty="0">
                <a:solidFill>
                  <a:srgbClr val="F4CE67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>
                <a:solidFill>
                  <a:srgbClr val="F4CE67"/>
                </a:solidFill>
                <a:latin typeface="Aptos"/>
                <a:ea typeface="Aptos"/>
                <a:cs typeface="Aptos"/>
              </a:rPr>
              <a:t>–</a:t>
            </a:r>
            <a:r>
              <a:rPr lang="en-US" sz="1725" b="0" dirty="0">
                <a:solidFill>
                  <a:srgbClr val="F4CE67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>
                <a:solidFill>
                  <a:srgbClr val="F4CE67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12" name="title-metric-0">
            <a:extLst>
              <a:ext uri="{FF2B5EF4-FFF2-40B4-BE49-F238E27FC236}">
                <a16:creationId xmlns:a16="http://schemas.microsoft.com/office/drawing/2014/main" id="{330FA460-EF92-4D95-A15A-B8075576A037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2428875" cy="1219200"/>
          </a:xfrm>
          <a:prstGeom prst="roundRect">
            <a:avLst>
              <a:gd name="adj" fmla="val 6250"/>
            </a:avLst>
          </a:prstGeom>
          <a:solidFill>
            <a:srgbClr val="2F3B84"/>
          </a:solidFill>
          <a:ln w="9525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itle-metric-value-0">
            <a:extLst>
              <a:ext uri="{FF2B5EF4-FFF2-40B4-BE49-F238E27FC236}">
                <a16:creationId xmlns:a16="http://schemas.microsoft.com/office/drawing/2014/main" id="{146AC8CC-CF78-479B-8B1F-FE1ACEA37919}"/>
              </a:ext>
            </a:extLst>
          </p:cNvPr>
          <p:cNvSpPr>
            <a:spLocks noGrp="1"/>
          </p:cNvSpPr>
          <p:nvPr/>
        </p:nvSpPr>
        <p:spPr>
          <a:xfrm>
            <a:off x="809625" y="3105150"/>
            <a:ext cx="76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4" name="title-metric-label-0">
            <a:extLst>
              <a:ext uri="{FF2B5EF4-FFF2-40B4-BE49-F238E27FC236}">
                <a16:creationId xmlns:a16="http://schemas.microsoft.com/office/drawing/2014/main" id="{247BB411-D142-4D05-9772-18A043F2600D}"/>
              </a:ext>
            </a:extLst>
          </p:cNvPr>
          <p:cNvSpPr>
            <a:spLocks noGrp="1"/>
          </p:cNvSpPr>
          <p:nvPr/>
        </p:nvSpPr>
        <p:spPr>
          <a:xfrm>
            <a:off x="809625" y="3667125"/>
            <a:ext cx="2047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Partner States</a:t>
            </a:r>
          </a:p>
        </p:txBody>
      </p:sp>
      <p:sp>
        <p:nvSpPr>
          <p:cNvPr id="15" name="title-metric-1">
            <a:extLst>
              <a:ext uri="{FF2B5EF4-FFF2-40B4-BE49-F238E27FC236}">
                <a16:creationId xmlns:a16="http://schemas.microsoft.com/office/drawing/2014/main" id="{D510380A-1651-426E-9968-50F03D20BDFB}"/>
              </a:ext>
            </a:extLst>
          </p:cNvPr>
          <p:cNvSpPr>
            <a:spLocks noGrp="1"/>
          </p:cNvSpPr>
          <p:nvPr/>
        </p:nvSpPr>
        <p:spPr>
          <a:xfrm>
            <a:off x="3343275" y="2952750"/>
            <a:ext cx="2428875" cy="1219200"/>
          </a:xfrm>
          <a:prstGeom prst="roundRect">
            <a:avLst>
              <a:gd name="adj" fmla="val 6250"/>
            </a:avLst>
          </a:prstGeom>
          <a:solidFill>
            <a:srgbClr val="2F3B84"/>
          </a:solidFill>
          <a:ln w="9525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itle-metric-value-1">
            <a:extLst>
              <a:ext uri="{FF2B5EF4-FFF2-40B4-BE49-F238E27FC236}">
                <a16:creationId xmlns:a16="http://schemas.microsoft.com/office/drawing/2014/main" id="{802AC620-AEC7-4EC8-B9AB-5DC999985CF8}"/>
              </a:ext>
            </a:extLst>
          </p:cNvPr>
          <p:cNvSpPr>
            <a:spLocks noGrp="1"/>
          </p:cNvSpPr>
          <p:nvPr/>
        </p:nvSpPr>
        <p:spPr>
          <a:xfrm>
            <a:off x="3533775" y="3105150"/>
            <a:ext cx="76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7" name="title-metric-label-1">
            <a:extLst>
              <a:ext uri="{FF2B5EF4-FFF2-40B4-BE49-F238E27FC236}">
                <a16:creationId xmlns:a16="http://schemas.microsoft.com/office/drawing/2014/main" id="{C0A9FE0B-B8E1-4677-BEB0-9EA304242658}"/>
              </a:ext>
            </a:extLst>
          </p:cNvPr>
          <p:cNvSpPr>
            <a:spLocks noGrp="1"/>
          </p:cNvSpPr>
          <p:nvPr/>
        </p:nvSpPr>
        <p:spPr>
          <a:xfrm>
            <a:off x="3533775" y="3667125"/>
            <a:ext cx="2047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Years</a:t>
            </a:r>
          </a:p>
        </p:txBody>
      </p:sp>
      <p:sp>
        <p:nvSpPr>
          <p:cNvPr id="18" name="title-metric-2">
            <a:extLst>
              <a:ext uri="{FF2B5EF4-FFF2-40B4-BE49-F238E27FC236}">
                <a16:creationId xmlns:a16="http://schemas.microsoft.com/office/drawing/2014/main" id="{EB1414AC-41EB-49AB-B338-E2142D4C55DC}"/>
              </a:ext>
            </a:extLst>
          </p:cNvPr>
          <p:cNvSpPr>
            <a:spLocks noGrp="1"/>
          </p:cNvSpPr>
          <p:nvPr/>
        </p:nvSpPr>
        <p:spPr>
          <a:xfrm>
            <a:off x="6067425" y="2952750"/>
            <a:ext cx="2428875" cy="1219200"/>
          </a:xfrm>
          <a:prstGeom prst="roundRect">
            <a:avLst>
              <a:gd name="adj" fmla="val 6250"/>
            </a:avLst>
          </a:prstGeom>
          <a:solidFill>
            <a:srgbClr val="2F3B84"/>
          </a:solidFill>
          <a:ln w="9525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itle-metric-value-2">
            <a:extLst>
              <a:ext uri="{FF2B5EF4-FFF2-40B4-BE49-F238E27FC236}">
                <a16:creationId xmlns:a16="http://schemas.microsoft.com/office/drawing/2014/main" id="{83D2DCA3-B9F7-4B3F-8747-A3357BBC3133}"/>
              </a:ext>
            </a:extLst>
          </p:cNvPr>
          <p:cNvSpPr>
            <a:spLocks noGrp="1"/>
          </p:cNvSpPr>
          <p:nvPr/>
        </p:nvSpPr>
        <p:spPr>
          <a:xfrm>
            <a:off x="6257925" y="3105150"/>
            <a:ext cx="76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title-metric-label-2">
            <a:extLst>
              <a:ext uri="{FF2B5EF4-FFF2-40B4-BE49-F238E27FC236}">
                <a16:creationId xmlns:a16="http://schemas.microsoft.com/office/drawing/2014/main" id="{B5525477-4D90-4F6A-BF22-164451B2B2EC}"/>
              </a:ext>
            </a:extLst>
          </p:cNvPr>
          <p:cNvSpPr>
            <a:spLocks noGrp="1"/>
          </p:cNvSpPr>
          <p:nvPr/>
        </p:nvSpPr>
        <p:spPr>
          <a:xfrm>
            <a:off x="6257925" y="3667125"/>
            <a:ext cx="2047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Indicators</a:t>
            </a:r>
          </a:p>
        </p:txBody>
      </p:sp>
      <p:sp>
        <p:nvSpPr>
          <p:cNvPr id="21" name="title-metric-3">
            <a:extLst>
              <a:ext uri="{FF2B5EF4-FFF2-40B4-BE49-F238E27FC236}">
                <a16:creationId xmlns:a16="http://schemas.microsoft.com/office/drawing/2014/main" id="{E05AA539-8C12-444A-80E0-2EBF49926366}"/>
              </a:ext>
            </a:extLst>
          </p:cNvPr>
          <p:cNvSpPr>
            <a:spLocks noGrp="1"/>
          </p:cNvSpPr>
          <p:nvPr/>
        </p:nvSpPr>
        <p:spPr>
          <a:xfrm>
            <a:off x="8791575" y="2952750"/>
            <a:ext cx="2428875" cy="1219200"/>
          </a:xfrm>
          <a:prstGeom prst="roundRect">
            <a:avLst>
              <a:gd name="adj" fmla="val 6250"/>
            </a:avLst>
          </a:prstGeom>
          <a:solidFill>
            <a:srgbClr val="2F3B84"/>
          </a:solidFill>
          <a:ln w="9525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itle-metric-value-3">
            <a:extLst>
              <a:ext uri="{FF2B5EF4-FFF2-40B4-BE49-F238E27FC236}">
                <a16:creationId xmlns:a16="http://schemas.microsoft.com/office/drawing/2014/main" id="{4434A9C9-CAB6-4970-AE7C-9A00F658BB5C}"/>
              </a:ext>
            </a:extLst>
          </p:cNvPr>
          <p:cNvSpPr>
            <a:spLocks noGrp="1"/>
          </p:cNvSpPr>
          <p:nvPr/>
        </p:nvSpPr>
        <p:spPr>
          <a:xfrm>
            <a:off x="8982075" y="3105150"/>
            <a:ext cx="76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title-metric-label-3">
            <a:extLst>
              <a:ext uri="{FF2B5EF4-FFF2-40B4-BE49-F238E27FC236}">
                <a16:creationId xmlns:a16="http://schemas.microsoft.com/office/drawing/2014/main" id="{A3B5A185-EBFF-4569-AEB3-0D1B20EA803C}"/>
              </a:ext>
            </a:extLst>
          </p:cNvPr>
          <p:cNvSpPr>
            <a:spLocks noGrp="1"/>
          </p:cNvSpPr>
          <p:nvPr/>
        </p:nvSpPr>
        <p:spPr>
          <a:xfrm>
            <a:off x="8982075" y="3667125"/>
            <a:ext cx="2047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24" name="member-line">
            <a:extLst>
              <a:ext uri="{FF2B5EF4-FFF2-40B4-BE49-F238E27FC236}">
                <a16:creationId xmlns:a16="http://schemas.microsoft.com/office/drawing/2014/main" id="{B631E904-EACF-4073-AA39-E0359AECB098}"/>
              </a:ext>
            </a:extLst>
          </p:cNvPr>
          <p:cNvSpPr>
            <a:spLocks noGrp="1"/>
          </p:cNvSpPr>
          <p:nvPr/>
        </p:nvSpPr>
        <p:spPr>
          <a:xfrm>
            <a:off x="619125" y="4857750"/>
            <a:ext cx="108108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Amenya</a:t>
            </a: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Maeri</a:t>
            </a:r>
            <a:r>
              <a:rPr lang="en-US"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(222657)</a:t>
            </a: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·  David Muriuki</a:t>
            </a:r>
            <a:r>
              <a:rPr lang="en-US"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(223108)</a:t>
            </a: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·  Joel </a:t>
            </a:r>
            <a:r>
              <a:rPr sz="165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Mutevu</a:t>
            </a:r>
            <a:r>
              <a:rPr lang="en-US"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(122173)</a:t>
            </a: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·  Sharon Olang</a:t>
            </a:r>
            <a:r>
              <a:rPr lang="en-US"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(225637)</a:t>
            </a: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 ·  </a:t>
            </a:r>
            <a:r>
              <a:rPr sz="165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Magembe</a:t>
            </a: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Omeri</a:t>
            </a:r>
            <a:r>
              <a:rPr lang="en-US"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(225518)</a:t>
            </a:r>
            <a:endParaRPr sz="16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client-line">
            <a:extLst>
              <a:ext uri="{FF2B5EF4-FFF2-40B4-BE49-F238E27FC236}">
                <a16:creationId xmlns:a16="http://schemas.microsoft.com/office/drawing/2014/main" id="{8FA4F9D3-CE72-40A7-B433-E2C4BD709BE3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533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CE67"/>
                </a:solidFill>
                <a:latin typeface="Aptos"/>
                <a:ea typeface="Aptos"/>
                <a:cs typeface="Aptos"/>
              </a:rPr>
              <a:t>Client: East African Community (EAC)</a:t>
            </a:r>
          </a:p>
        </p:txBody>
      </p:sp>
    </p:spTree>
    <p:extLst>
      <p:ext uri="{BB962C8B-B14F-4D97-AF65-F5344CB8AC3E}">
        <p14:creationId xmlns:p14="http://schemas.microsoft.com/office/powerpoint/2010/main" val="193391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op-rule-gold">
            <a:extLst>
              <a:ext uri="{FF2B5EF4-FFF2-40B4-BE49-F238E27FC236}">
                <a16:creationId xmlns:a16="http://schemas.microsoft.com/office/drawing/2014/main" id="{410408D3-8C02-4B88-9514-5FD30A2CFB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16F3727D-9491-467B-804F-05738B8F2049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2DA6A82F-2667-4BC2-B320-D8BD07D1CB17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59743355-6BE5-45CF-91DF-61808A2D4A30}"/>
              </a:ext>
            </a:extLst>
          </p:cNvPr>
          <p:cNvSpPr>
            <a:spLocks noGrp="1"/>
          </p:cNvSpPr>
          <p:nvPr/>
        </p:nvSpPr>
        <p:spPr>
          <a:xfrm>
            <a:off x="585787" y="507205"/>
            <a:ext cx="8221183" cy="2047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TEAM CONTRIBUTION 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D45AD474-9F71-46BF-8523-DCB9B6899B05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1657D619-7E8F-4B5A-8070-13A66D28A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team-panel">
            <a:extLst>
              <a:ext uri="{FF2B5EF4-FFF2-40B4-BE49-F238E27FC236}">
                <a16:creationId xmlns:a16="http://schemas.microsoft.com/office/drawing/2014/main" id="{625768EA-EF98-439F-B8A1-8BE08BBC4E0B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5143500" cy="411480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am-title">
            <a:extLst>
              <a:ext uri="{FF2B5EF4-FFF2-40B4-BE49-F238E27FC236}">
                <a16:creationId xmlns:a16="http://schemas.microsoft.com/office/drawing/2014/main" id="{8E88507C-4EBC-4155-850D-4F7B6EFBF8AE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171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Group 1</a:t>
            </a:r>
          </a:p>
        </p:txBody>
      </p:sp>
      <p:sp>
        <p:nvSpPr>
          <p:cNvPr id="11" name="member-dot-0">
            <a:extLst>
              <a:ext uri="{FF2B5EF4-FFF2-40B4-BE49-F238E27FC236}">
                <a16:creationId xmlns:a16="http://schemas.microsoft.com/office/drawing/2014/main" id="{FDD8EDE5-3A2F-4FBF-9F46-EE23440B2875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member-0">
            <a:extLst>
              <a:ext uri="{FF2B5EF4-FFF2-40B4-BE49-F238E27FC236}">
                <a16:creationId xmlns:a16="http://schemas.microsoft.com/office/drawing/2014/main" id="{B48064BE-9CA9-42BF-BA79-279E8CE33BFB}"/>
              </a:ext>
            </a:extLst>
          </p:cNvPr>
          <p:cNvSpPr>
            <a:spLocks noGrp="1"/>
          </p:cNvSpPr>
          <p:nvPr/>
        </p:nvSpPr>
        <p:spPr>
          <a:xfrm>
            <a:off x="1276350" y="2190750"/>
            <a:ext cx="314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Amenya Maeri</a:t>
            </a:r>
          </a:p>
        </p:txBody>
      </p:sp>
      <p:sp>
        <p:nvSpPr>
          <p:cNvPr id="13" name="member-dot-1">
            <a:extLst>
              <a:ext uri="{FF2B5EF4-FFF2-40B4-BE49-F238E27FC236}">
                <a16:creationId xmlns:a16="http://schemas.microsoft.com/office/drawing/2014/main" id="{6E23840F-F3B4-45CE-B58A-948C02E483E0}"/>
              </a:ext>
            </a:extLst>
          </p:cNvPr>
          <p:cNvSpPr>
            <a:spLocks noGrp="1"/>
          </p:cNvSpPr>
          <p:nvPr/>
        </p:nvSpPr>
        <p:spPr>
          <a:xfrm>
            <a:off x="857250" y="28003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member-1">
            <a:extLst>
              <a:ext uri="{FF2B5EF4-FFF2-40B4-BE49-F238E27FC236}">
                <a16:creationId xmlns:a16="http://schemas.microsoft.com/office/drawing/2014/main" id="{F165F763-46AB-4409-A39A-3EBF7CA36D8A}"/>
              </a:ext>
            </a:extLst>
          </p:cNvPr>
          <p:cNvSpPr>
            <a:spLocks noGrp="1"/>
          </p:cNvSpPr>
          <p:nvPr/>
        </p:nvSpPr>
        <p:spPr>
          <a:xfrm>
            <a:off x="1276350" y="2752725"/>
            <a:ext cx="314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David Muriuki</a:t>
            </a:r>
          </a:p>
        </p:txBody>
      </p:sp>
      <p:sp>
        <p:nvSpPr>
          <p:cNvPr id="15" name="member-dot-2">
            <a:extLst>
              <a:ext uri="{FF2B5EF4-FFF2-40B4-BE49-F238E27FC236}">
                <a16:creationId xmlns:a16="http://schemas.microsoft.com/office/drawing/2014/main" id="{7CC4F9B1-04D3-4F1D-AE7E-88266A475E13}"/>
              </a:ext>
            </a:extLst>
          </p:cNvPr>
          <p:cNvSpPr>
            <a:spLocks noGrp="1"/>
          </p:cNvSpPr>
          <p:nvPr/>
        </p:nvSpPr>
        <p:spPr>
          <a:xfrm>
            <a:off x="857250" y="336232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member-2">
            <a:extLst>
              <a:ext uri="{FF2B5EF4-FFF2-40B4-BE49-F238E27FC236}">
                <a16:creationId xmlns:a16="http://schemas.microsoft.com/office/drawing/2014/main" id="{1D1FBDAD-4248-4CA0-8593-CDAB5F0DF920}"/>
              </a:ext>
            </a:extLst>
          </p:cNvPr>
          <p:cNvSpPr>
            <a:spLocks noGrp="1"/>
          </p:cNvSpPr>
          <p:nvPr/>
        </p:nvSpPr>
        <p:spPr>
          <a:xfrm>
            <a:off x="1276350" y="3314700"/>
            <a:ext cx="314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7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lang="en-GB" sz="1725" b="1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Sharon Olang</a:t>
            </a:r>
          </a:p>
          <a:p>
            <a:pPr algn="l">
              <a:defRPr sz="17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endParaRPr sz="1725" b="1" dirty="0">
              <a:solidFill>
                <a:srgbClr val="201D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member-dot-3">
            <a:extLst>
              <a:ext uri="{FF2B5EF4-FFF2-40B4-BE49-F238E27FC236}">
                <a16:creationId xmlns:a16="http://schemas.microsoft.com/office/drawing/2014/main" id="{1C7D583D-B067-46E6-B374-BA91B5FE451F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member-3">
            <a:extLst>
              <a:ext uri="{FF2B5EF4-FFF2-40B4-BE49-F238E27FC236}">
                <a16:creationId xmlns:a16="http://schemas.microsoft.com/office/drawing/2014/main" id="{BCB46C26-3BA9-4B8D-8029-6D35CA47B5AD}"/>
              </a:ext>
            </a:extLst>
          </p:cNvPr>
          <p:cNvSpPr>
            <a:spLocks noGrp="1"/>
          </p:cNvSpPr>
          <p:nvPr/>
        </p:nvSpPr>
        <p:spPr>
          <a:xfrm>
            <a:off x="1276350" y="3876675"/>
            <a:ext cx="314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17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lang="en-GB" sz="1725" b="1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Joel </a:t>
            </a:r>
            <a:r>
              <a:rPr lang="en-GB" sz="1725" b="1" dirty="0" err="1">
                <a:solidFill>
                  <a:srgbClr val="201D1C"/>
                </a:solidFill>
                <a:latin typeface="Aptos"/>
                <a:ea typeface="Aptos"/>
                <a:cs typeface="Aptos"/>
              </a:rPr>
              <a:t>Mutevu</a:t>
            </a:r>
            <a:endParaRPr sz="1725" b="1" dirty="0">
              <a:solidFill>
                <a:srgbClr val="201D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member-dot-4">
            <a:extLst>
              <a:ext uri="{FF2B5EF4-FFF2-40B4-BE49-F238E27FC236}">
                <a16:creationId xmlns:a16="http://schemas.microsoft.com/office/drawing/2014/main" id="{E242B39C-F5E6-45E8-A3EE-9025D3818EFF}"/>
              </a:ext>
            </a:extLst>
          </p:cNvPr>
          <p:cNvSpPr>
            <a:spLocks noGrp="1"/>
          </p:cNvSpPr>
          <p:nvPr/>
        </p:nvSpPr>
        <p:spPr>
          <a:xfrm>
            <a:off x="857250" y="44862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member-4">
            <a:extLst>
              <a:ext uri="{FF2B5EF4-FFF2-40B4-BE49-F238E27FC236}">
                <a16:creationId xmlns:a16="http://schemas.microsoft.com/office/drawing/2014/main" id="{B25DA899-A41A-462E-A8DC-98601B75C075}"/>
              </a:ext>
            </a:extLst>
          </p:cNvPr>
          <p:cNvSpPr>
            <a:spLocks noGrp="1"/>
          </p:cNvSpPr>
          <p:nvPr/>
        </p:nvSpPr>
        <p:spPr>
          <a:xfrm>
            <a:off x="1276350" y="4438650"/>
            <a:ext cx="3143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Magembe Omeri</a:t>
            </a:r>
          </a:p>
        </p:txBody>
      </p:sp>
      <p:sp>
        <p:nvSpPr>
          <p:cNvPr id="21" name="team-note">
            <a:extLst>
              <a:ext uri="{FF2B5EF4-FFF2-40B4-BE49-F238E27FC236}">
                <a16:creationId xmlns:a16="http://schemas.microsoft.com/office/drawing/2014/main" id="{C8817B6B-D650-4E87-9835-FD9C7B299C13}"/>
              </a:ext>
            </a:extLst>
          </p:cNvPr>
          <p:cNvSpPr>
            <a:spLocks noGrp="1"/>
          </p:cNvSpPr>
          <p:nvPr/>
        </p:nvSpPr>
        <p:spPr>
          <a:xfrm>
            <a:off x="838200" y="5000625"/>
            <a:ext cx="452437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defRPr sz="1350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endParaRPr sz="1350" b="1" dirty="0">
              <a:solidFill>
                <a:srgbClr val="E52D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pro-panel">
            <a:extLst>
              <a:ext uri="{FF2B5EF4-FFF2-40B4-BE49-F238E27FC236}">
                <a16:creationId xmlns:a16="http://schemas.microsoft.com/office/drawing/2014/main" id="{64ED6EAD-11C0-4080-95ED-D06DEE86A0C9}"/>
              </a:ext>
            </a:extLst>
          </p:cNvPr>
          <p:cNvSpPr>
            <a:spLocks noGrp="1"/>
          </p:cNvSpPr>
          <p:nvPr/>
        </p:nvSpPr>
        <p:spPr>
          <a:xfrm>
            <a:off x="6096000" y="1381125"/>
            <a:ext cx="5505450" cy="4114800"/>
          </a:xfrm>
          <a:prstGeom prst="roundRect">
            <a:avLst>
              <a:gd name="adj" fmla="val 1852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bullet-238">
            <a:extLst>
              <a:ext uri="{FF2B5EF4-FFF2-40B4-BE49-F238E27FC236}">
                <a16:creationId xmlns:a16="http://schemas.microsoft.com/office/drawing/2014/main" id="{8A8D625F-3352-43A6-9D56-7953FE52E2FD}"/>
              </a:ext>
            </a:extLst>
          </p:cNvPr>
          <p:cNvSpPr>
            <a:spLocks noGrp="1"/>
          </p:cNvSpPr>
          <p:nvPr/>
        </p:nvSpPr>
        <p:spPr>
          <a:xfrm>
            <a:off x="6400800" y="2343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bullet-text-238">
            <a:extLst>
              <a:ext uri="{FF2B5EF4-FFF2-40B4-BE49-F238E27FC236}">
                <a16:creationId xmlns:a16="http://schemas.microsoft.com/office/drawing/2014/main" id="{3E5D1548-C2AF-46CE-9D4A-0019919F0A8C}"/>
              </a:ext>
            </a:extLst>
          </p:cNvPr>
          <p:cNvSpPr>
            <a:spLocks noGrp="1"/>
          </p:cNvSpPr>
          <p:nvPr/>
        </p:nvSpPr>
        <p:spPr>
          <a:xfrm>
            <a:off x="6610350" y="2266950"/>
            <a:ext cx="4648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retrieval and raw JSON</a:t>
            </a:r>
          </a:p>
        </p:txBody>
      </p:sp>
      <p:sp>
        <p:nvSpPr>
          <p:cNvPr id="26" name="bullet-293">
            <a:extLst>
              <a:ext uri="{FF2B5EF4-FFF2-40B4-BE49-F238E27FC236}">
                <a16:creationId xmlns:a16="http://schemas.microsoft.com/office/drawing/2014/main" id="{FC6796FE-5F70-472C-93CF-2C78C039233A}"/>
              </a:ext>
            </a:extLst>
          </p:cNvPr>
          <p:cNvSpPr>
            <a:spLocks noGrp="1"/>
          </p:cNvSpPr>
          <p:nvPr/>
        </p:nvSpPr>
        <p:spPr>
          <a:xfrm>
            <a:off x="6400800" y="2867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bullet-text-293">
            <a:extLst>
              <a:ext uri="{FF2B5EF4-FFF2-40B4-BE49-F238E27FC236}">
                <a16:creationId xmlns:a16="http://schemas.microsoft.com/office/drawing/2014/main" id="{B434C072-2C3A-4856-8002-DCA2EB84F184}"/>
              </a:ext>
            </a:extLst>
          </p:cNvPr>
          <p:cNvSpPr>
            <a:spLocks noGrp="1"/>
          </p:cNvSpPr>
          <p:nvPr/>
        </p:nvSpPr>
        <p:spPr>
          <a:xfrm>
            <a:off x="6610350" y="2790825"/>
            <a:ext cx="4648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Quality checks and preprocessing log</a:t>
            </a:r>
          </a:p>
        </p:txBody>
      </p:sp>
      <p:sp>
        <p:nvSpPr>
          <p:cNvPr id="28" name="bullet-348">
            <a:extLst>
              <a:ext uri="{FF2B5EF4-FFF2-40B4-BE49-F238E27FC236}">
                <a16:creationId xmlns:a16="http://schemas.microsoft.com/office/drawing/2014/main" id="{AFC0C8F2-2A58-4BB3-A08D-354A0687BCEF}"/>
              </a:ext>
            </a:extLst>
          </p:cNvPr>
          <p:cNvSpPr>
            <a:spLocks noGrp="1"/>
          </p:cNvSpPr>
          <p:nvPr/>
        </p:nvSpPr>
        <p:spPr>
          <a:xfrm>
            <a:off x="6400800" y="3390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bullet-text-348">
            <a:extLst>
              <a:ext uri="{FF2B5EF4-FFF2-40B4-BE49-F238E27FC236}">
                <a16:creationId xmlns:a16="http://schemas.microsoft.com/office/drawing/2014/main" id="{EDEFD301-E024-44AB-8D54-3265222D8602}"/>
              </a:ext>
            </a:extLst>
          </p:cNvPr>
          <p:cNvSpPr>
            <a:spLocks noGrp="1"/>
          </p:cNvSpPr>
          <p:nvPr/>
        </p:nvSpPr>
        <p:spPr>
          <a:xfrm>
            <a:off x="6610350" y="3314700"/>
            <a:ext cx="4648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Statistics, charts, and saved results</a:t>
            </a:r>
          </a:p>
        </p:txBody>
      </p:sp>
      <p:sp>
        <p:nvSpPr>
          <p:cNvPr id="30" name="bullet-403">
            <a:extLst>
              <a:ext uri="{FF2B5EF4-FFF2-40B4-BE49-F238E27FC236}">
                <a16:creationId xmlns:a16="http://schemas.microsoft.com/office/drawing/2014/main" id="{6EBAC34A-C8F4-488F-BD52-E6577E0F6880}"/>
              </a:ext>
            </a:extLst>
          </p:cNvPr>
          <p:cNvSpPr>
            <a:spLocks noGrp="1"/>
          </p:cNvSpPr>
          <p:nvPr/>
        </p:nvSpPr>
        <p:spPr>
          <a:xfrm>
            <a:off x="6400800" y="3914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bullet-text-403">
            <a:extLst>
              <a:ext uri="{FF2B5EF4-FFF2-40B4-BE49-F238E27FC236}">
                <a16:creationId xmlns:a16="http://schemas.microsoft.com/office/drawing/2014/main" id="{B067C75F-7349-454A-8DCC-63934EDF5FE2}"/>
              </a:ext>
            </a:extLst>
          </p:cNvPr>
          <p:cNvSpPr>
            <a:spLocks noGrp="1"/>
          </p:cNvSpPr>
          <p:nvPr/>
        </p:nvSpPr>
        <p:spPr>
          <a:xfrm>
            <a:off x="6610350" y="3838575"/>
            <a:ext cx="4648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 app, tests, and deployment guide</a:t>
            </a:r>
          </a:p>
        </p:txBody>
      </p:sp>
      <p:sp>
        <p:nvSpPr>
          <p:cNvPr id="32" name="bullet-458">
            <a:extLst>
              <a:ext uri="{FF2B5EF4-FFF2-40B4-BE49-F238E27FC236}">
                <a16:creationId xmlns:a16="http://schemas.microsoft.com/office/drawing/2014/main" id="{6CAF3EFE-46B2-4578-9F26-4C8FE056CE2D}"/>
              </a:ext>
            </a:extLst>
          </p:cNvPr>
          <p:cNvSpPr>
            <a:spLocks noGrp="1"/>
          </p:cNvSpPr>
          <p:nvPr/>
        </p:nvSpPr>
        <p:spPr>
          <a:xfrm>
            <a:off x="6400800" y="44386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bullet-text-458">
            <a:extLst>
              <a:ext uri="{FF2B5EF4-FFF2-40B4-BE49-F238E27FC236}">
                <a16:creationId xmlns:a16="http://schemas.microsoft.com/office/drawing/2014/main" id="{493CAEA9-7870-40B4-8F87-080D3F12D7ED}"/>
              </a:ext>
            </a:extLst>
          </p:cNvPr>
          <p:cNvSpPr>
            <a:spLocks noGrp="1"/>
          </p:cNvSpPr>
          <p:nvPr/>
        </p:nvSpPr>
        <p:spPr>
          <a:xfrm>
            <a:off x="6610350" y="4362450"/>
            <a:ext cx="4648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Presentation and final datasets</a:t>
            </a:r>
          </a:p>
        </p:txBody>
      </p:sp>
      <p:sp>
        <p:nvSpPr>
          <p:cNvPr id="34" name="repro-note">
            <a:extLst>
              <a:ext uri="{FF2B5EF4-FFF2-40B4-BE49-F238E27FC236}">
                <a16:creationId xmlns:a16="http://schemas.microsoft.com/office/drawing/2014/main" id="{1E527A10-39DB-4E60-99B3-30E03A0EDB38}"/>
              </a:ext>
            </a:extLst>
          </p:cNvPr>
          <p:cNvSpPr>
            <a:spLocks noGrp="1"/>
          </p:cNvSpPr>
          <p:nvPr/>
        </p:nvSpPr>
        <p:spPr>
          <a:xfrm>
            <a:off x="6400800" y="5019675"/>
            <a:ext cx="4819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defRPr sz="1350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endParaRPr sz="1350" b="1" dirty="0">
              <a:solidFill>
                <a:srgbClr val="F4CE6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2749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rule-gold">
            <a:extLst>
              <a:ext uri="{FF2B5EF4-FFF2-40B4-BE49-F238E27FC236}">
                <a16:creationId xmlns:a16="http://schemas.microsoft.com/office/drawing/2014/main" id="{6980AA53-9B3E-4CF8-962F-87F6198CC5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E97F964D-D9E9-4F60-BFEB-68213D3BCD61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82E3EDF0-EC93-4964-8A18-59B52EFE0E87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7E53C074-70C2-4AF4-88DF-C2F20710FC1C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PROJECT EXPECTATIONS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0B4992D3-61DE-4E60-91BA-E66430E3E0F8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endParaRPr sz="3600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9E3C95FA-05BA-447C-AFA6-75A0438628E9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EDED1812-B50A-4626-B0BA-B1308BD2776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1–3-Build a trustworthy dataset-card">
            <a:extLst>
              <a:ext uri="{FF2B5EF4-FFF2-40B4-BE49-F238E27FC236}">
                <a16:creationId xmlns:a16="http://schemas.microsoft.com/office/drawing/2014/main" id="{B701B106-6C8F-46AB-A3A8-CB3866943841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34099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1–3-Build a trustworthy dataset-number">
            <a:extLst>
              <a:ext uri="{FF2B5EF4-FFF2-40B4-BE49-F238E27FC236}">
                <a16:creationId xmlns:a16="http://schemas.microsoft.com/office/drawing/2014/main" id="{CA1D0B9F-F971-46F8-BE94-8082621E1B42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66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C79633"/>
                </a:solidFill>
                <a:latin typeface="Aptos"/>
                <a:ea typeface="Aptos"/>
                <a:cs typeface="Aptos"/>
              </a:defRPr>
            </a:pPr>
            <a:r>
              <a:rPr sz="1950" b="1" dirty="0">
                <a:solidFill>
                  <a:srgbClr val="C79633"/>
                </a:solidFill>
                <a:latin typeface="Aptos"/>
                <a:ea typeface="Aptos"/>
                <a:cs typeface="Aptos"/>
              </a:rPr>
              <a:t>1</a:t>
            </a:r>
            <a:r>
              <a:rPr lang="en-US" sz="1950" b="1" dirty="0">
                <a:solidFill>
                  <a:srgbClr val="C79633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>
                <a:solidFill>
                  <a:srgbClr val="C79633"/>
                </a:solidFill>
                <a:latin typeface="Aptos"/>
                <a:ea typeface="Aptos"/>
                <a:cs typeface="Aptos"/>
              </a:rPr>
              <a:t>–</a:t>
            </a:r>
            <a:r>
              <a:rPr lang="en-US" sz="1950" b="1" dirty="0">
                <a:solidFill>
                  <a:srgbClr val="C79633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>
                <a:solidFill>
                  <a:srgbClr val="C7963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1–3-Build a trustworthy dataset-title">
            <a:extLst>
              <a:ext uri="{FF2B5EF4-FFF2-40B4-BE49-F238E27FC236}">
                <a16:creationId xmlns:a16="http://schemas.microsoft.com/office/drawing/2014/main" id="{B3B62B3C-67E7-43AB-959A-81AFB9BA14B6}"/>
              </a:ext>
            </a:extLst>
          </p:cNvPr>
          <p:cNvSpPr>
            <a:spLocks noGrp="1"/>
          </p:cNvSpPr>
          <p:nvPr/>
        </p:nvSpPr>
        <p:spPr>
          <a:xfrm>
            <a:off x="1428750" y="1571625"/>
            <a:ext cx="24003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8929" lnSpcReduction="20000"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Build</a:t>
            </a:r>
            <a:r>
              <a:rPr lang="en-US"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ing</a:t>
            </a:r>
            <a:r>
              <a:rPr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a trustworthy dataset</a:t>
            </a:r>
          </a:p>
        </p:txBody>
      </p:sp>
      <p:sp>
        <p:nvSpPr>
          <p:cNvPr id="12" name="1–3-Build a trustworthy dataset-body">
            <a:extLst>
              <a:ext uri="{FF2B5EF4-FFF2-40B4-BE49-F238E27FC236}">
                <a16:creationId xmlns:a16="http://schemas.microsoft.com/office/drawing/2014/main" id="{DADF351A-404B-4810-8B36-395FAEC5A6AE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3067050" cy="2276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lang="en-US" sz="165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We r</a:t>
            </a: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etrieve</a:t>
            </a:r>
            <a:r>
              <a:rPr lang="en-US"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d</a:t>
            </a: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 data with Python, check</a:t>
            </a:r>
            <a:r>
              <a:rPr lang="en-US"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ed</a:t>
            </a: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 its quality, then clean</a:t>
            </a:r>
            <a:r>
              <a:rPr lang="en-US"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ed</a:t>
            </a: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 it without hiding missing values.</a:t>
            </a:r>
          </a:p>
        </p:txBody>
      </p:sp>
      <p:sp>
        <p:nvSpPr>
          <p:cNvPr id="13" name="4–5-Find and explain patterns-card">
            <a:extLst>
              <a:ext uri="{FF2B5EF4-FFF2-40B4-BE49-F238E27FC236}">
                <a16:creationId xmlns:a16="http://schemas.microsoft.com/office/drawing/2014/main" id="{569F2184-C04B-4D91-A7E8-552328B24ABF}"/>
              </a:ext>
            </a:extLst>
          </p:cNvPr>
          <p:cNvSpPr>
            <a:spLocks noGrp="1"/>
          </p:cNvSpPr>
          <p:nvPr/>
        </p:nvSpPr>
        <p:spPr>
          <a:xfrm>
            <a:off x="4391025" y="1428750"/>
            <a:ext cx="34099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4–5-Find and explain patterns-number">
            <a:extLst>
              <a:ext uri="{FF2B5EF4-FFF2-40B4-BE49-F238E27FC236}">
                <a16:creationId xmlns:a16="http://schemas.microsoft.com/office/drawing/2014/main" id="{BBE75562-4E8E-44BE-A69D-3D03DBBE8CFA}"/>
              </a:ext>
            </a:extLst>
          </p:cNvPr>
          <p:cNvSpPr>
            <a:spLocks noGrp="1"/>
          </p:cNvSpPr>
          <p:nvPr/>
        </p:nvSpPr>
        <p:spPr>
          <a:xfrm>
            <a:off x="4562475" y="1581150"/>
            <a:ext cx="66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4</a:t>
            </a:r>
            <a:r>
              <a:rPr lang="en-US" sz="195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–</a:t>
            </a:r>
            <a:r>
              <a:rPr lang="en-US" sz="195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5" name="4–5-Find and explain patterns-title">
            <a:extLst>
              <a:ext uri="{FF2B5EF4-FFF2-40B4-BE49-F238E27FC236}">
                <a16:creationId xmlns:a16="http://schemas.microsoft.com/office/drawing/2014/main" id="{C04C1F3B-E1A3-4C93-8F68-24E89A3F223A}"/>
              </a:ext>
            </a:extLst>
          </p:cNvPr>
          <p:cNvSpPr>
            <a:spLocks noGrp="1"/>
          </p:cNvSpPr>
          <p:nvPr/>
        </p:nvSpPr>
        <p:spPr>
          <a:xfrm>
            <a:off x="5229225" y="1571625"/>
            <a:ext cx="24003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2020" lnSpcReduction="20000"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Find</a:t>
            </a:r>
            <a:r>
              <a:rPr lang="en-US"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ing</a:t>
            </a:r>
            <a:r>
              <a:rPr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and explai</a:t>
            </a:r>
            <a:r>
              <a:rPr lang="en-US"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ning</a:t>
            </a:r>
            <a:r>
              <a:rPr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patterns</a:t>
            </a:r>
          </a:p>
        </p:txBody>
      </p:sp>
      <p:sp>
        <p:nvSpPr>
          <p:cNvPr id="16" name="4–5-Find and explain patterns-body">
            <a:extLst>
              <a:ext uri="{FF2B5EF4-FFF2-40B4-BE49-F238E27FC236}">
                <a16:creationId xmlns:a16="http://schemas.microsoft.com/office/drawing/2014/main" id="{3946E4F3-C8A0-43E2-94E9-BE9BC09E7D8A}"/>
              </a:ext>
            </a:extLst>
          </p:cNvPr>
          <p:cNvSpPr>
            <a:spLocks noGrp="1"/>
          </p:cNvSpPr>
          <p:nvPr/>
        </p:nvSpPr>
        <p:spPr>
          <a:xfrm>
            <a:off x="4562475" y="2171700"/>
            <a:ext cx="3067050" cy="2276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Use</a:t>
            </a:r>
            <a:r>
              <a:rPr lang="en-US"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d</a:t>
            </a: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 exploratory analysis, at least three statistical techniques, and meaningful charts with clear reasons.</a:t>
            </a:r>
          </a:p>
        </p:txBody>
      </p:sp>
      <p:sp>
        <p:nvSpPr>
          <p:cNvPr id="17" name="6–9-Deliver something useful-card">
            <a:extLst>
              <a:ext uri="{FF2B5EF4-FFF2-40B4-BE49-F238E27FC236}">
                <a16:creationId xmlns:a16="http://schemas.microsoft.com/office/drawing/2014/main" id="{BCC37AC8-96B9-4614-B303-8336AC49FDAB}"/>
              </a:ext>
            </a:extLst>
          </p:cNvPr>
          <p:cNvSpPr>
            <a:spLocks noGrp="1"/>
          </p:cNvSpPr>
          <p:nvPr/>
        </p:nvSpPr>
        <p:spPr>
          <a:xfrm>
            <a:off x="8191500" y="1428750"/>
            <a:ext cx="34099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6–9-Deliver something useful-number">
            <a:extLst>
              <a:ext uri="{FF2B5EF4-FFF2-40B4-BE49-F238E27FC236}">
                <a16:creationId xmlns:a16="http://schemas.microsoft.com/office/drawing/2014/main" id="{43BB9A57-BC34-4D04-A377-37B3164C8608}"/>
              </a:ext>
            </a:extLst>
          </p:cNvPr>
          <p:cNvSpPr>
            <a:spLocks noGrp="1"/>
          </p:cNvSpPr>
          <p:nvPr/>
        </p:nvSpPr>
        <p:spPr>
          <a:xfrm>
            <a:off x="8362950" y="1581150"/>
            <a:ext cx="66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95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6</a:t>
            </a:r>
            <a:r>
              <a:rPr lang="en-US" sz="195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–</a:t>
            </a:r>
            <a:r>
              <a:rPr lang="en-US" sz="195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</a:t>
            </a:r>
            <a:r>
              <a:rPr sz="195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9" name="6–9-Deliver something useful-title">
            <a:extLst>
              <a:ext uri="{FF2B5EF4-FFF2-40B4-BE49-F238E27FC236}">
                <a16:creationId xmlns:a16="http://schemas.microsoft.com/office/drawing/2014/main" id="{56E267CF-DDF8-4401-963D-3DBB325B40F6}"/>
              </a:ext>
            </a:extLst>
          </p:cNvPr>
          <p:cNvSpPr>
            <a:spLocks noGrp="1"/>
          </p:cNvSpPr>
          <p:nvPr/>
        </p:nvSpPr>
        <p:spPr>
          <a:xfrm>
            <a:off x="9029700" y="1571625"/>
            <a:ext cx="24003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673" lnSpcReduction="20000"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Deliver</a:t>
            </a:r>
            <a:r>
              <a:rPr lang="en-US"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ing</a:t>
            </a:r>
            <a:r>
              <a:rPr sz="21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something useful</a:t>
            </a:r>
          </a:p>
        </p:txBody>
      </p:sp>
      <p:sp>
        <p:nvSpPr>
          <p:cNvPr id="20" name="6–9-Deliver something useful-body">
            <a:extLst>
              <a:ext uri="{FF2B5EF4-FFF2-40B4-BE49-F238E27FC236}">
                <a16:creationId xmlns:a16="http://schemas.microsoft.com/office/drawing/2014/main" id="{3E582BE5-B0A8-455A-B52A-E22DB01257D7}"/>
              </a:ext>
            </a:extLst>
          </p:cNvPr>
          <p:cNvSpPr>
            <a:spLocks noGrp="1"/>
          </p:cNvSpPr>
          <p:nvPr/>
        </p:nvSpPr>
        <p:spPr>
          <a:xfrm>
            <a:off x="8362950" y="2171700"/>
            <a:ext cx="3067050" cy="2276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Buil</a:t>
            </a:r>
            <a:r>
              <a:rPr lang="en-US"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t</a:t>
            </a: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 an interactive dashboard, make evidence-based recommendations, work as a team and ke</a:t>
            </a:r>
            <a:r>
              <a:rPr lang="en-US"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pt</a:t>
            </a: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 the project on GitHub.</a:t>
            </a:r>
          </a:p>
        </p:txBody>
      </p:sp>
      <p:sp>
        <p:nvSpPr>
          <p:cNvPr id="21" name="client-question-card">
            <a:extLst>
              <a:ext uri="{FF2B5EF4-FFF2-40B4-BE49-F238E27FC236}">
                <a16:creationId xmlns:a16="http://schemas.microsoft.com/office/drawing/2014/main" id="{F675E96C-0E18-4638-92AC-925C29CE5979}"/>
              </a:ext>
            </a:extLst>
          </p:cNvPr>
          <p:cNvSpPr>
            <a:spLocks noGrp="1"/>
          </p:cNvSpPr>
          <p:nvPr/>
        </p:nvSpPr>
        <p:spPr>
          <a:xfrm>
            <a:off x="590550" y="4905375"/>
            <a:ext cx="11010900" cy="1066800"/>
          </a:xfrm>
          <a:prstGeom prst="roundRect">
            <a:avLst>
              <a:gd name="adj" fmla="val 7143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client-question-label">
            <a:extLst>
              <a:ext uri="{FF2B5EF4-FFF2-40B4-BE49-F238E27FC236}">
                <a16:creationId xmlns:a16="http://schemas.microsoft.com/office/drawing/2014/main" id="{5CCAF49B-5F05-4A46-A2CD-A2275264AFCB}"/>
              </a:ext>
            </a:extLst>
          </p:cNvPr>
          <p:cNvSpPr>
            <a:spLocks noGrp="1"/>
          </p:cNvSpPr>
          <p:nvPr/>
        </p:nvSpPr>
        <p:spPr>
          <a:xfrm>
            <a:off x="800100" y="5076825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4CE67"/>
                </a:solidFill>
                <a:latin typeface="Aptos"/>
                <a:ea typeface="Aptos"/>
                <a:cs typeface="Aptos"/>
              </a:rPr>
              <a:t>Our client question</a:t>
            </a:r>
          </a:p>
        </p:txBody>
      </p:sp>
      <p:sp>
        <p:nvSpPr>
          <p:cNvPr id="23" name="client-question-text">
            <a:extLst>
              <a:ext uri="{FF2B5EF4-FFF2-40B4-BE49-F238E27FC236}">
                <a16:creationId xmlns:a16="http://schemas.microsoft.com/office/drawing/2014/main" id="{4DCDFC4F-531E-4C80-9374-3A257C993477}"/>
              </a:ext>
            </a:extLst>
          </p:cNvPr>
          <p:cNvSpPr>
            <a:spLocks noGrp="1"/>
          </p:cNvSpPr>
          <p:nvPr/>
        </p:nvSpPr>
        <p:spPr>
          <a:xfrm>
            <a:off x="800100" y="5410200"/>
            <a:ext cx="105346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0131" lnSpcReduction="10000"/>
          </a:bodyPr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countries grew fastest</a:t>
            </a:r>
            <a:r>
              <a:rPr lang="en-US" sz="20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20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and did people also live longer and gain better access to secondary school?</a:t>
            </a:r>
          </a:p>
        </p:txBody>
      </p:sp>
    </p:spTree>
    <p:extLst>
      <p:ext uri="{BB962C8B-B14F-4D97-AF65-F5344CB8AC3E}">
        <p14:creationId xmlns:p14="http://schemas.microsoft.com/office/powerpoint/2010/main" val="98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op-rule-gold">
            <a:extLst>
              <a:ext uri="{FF2B5EF4-FFF2-40B4-BE49-F238E27FC236}">
                <a16:creationId xmlns:a16="http://schemas.microsoft.com/office/drawing/2014/main" id="{E2047249-11CD-49DC-839A-285D9DE8EF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A8496669-A14D-49CF-A933-AB56C2BB138E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0DE76D6A-748F-438C-8D21-8D47ED1AC67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3404F5ED-ECC1-4AA0-AE46-2BE958460F76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EXPECTATION 1 · API DATA RETRIEVAL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2C698799-FF3F-40D6-A6B0-50EC441EC560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536"/>
          </a:bodyPr>
          <a:lstStyle/>
          <a:p>
            <a:pPr algn="l">
              <a:defRPr sz="36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endParaRPr sz="3600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48875" y="286581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65E368A5-C34F-426C-99C8-EAFFEFE81FCF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7A8F5B77-AC12-4BB2-BC25-38B7486F803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1-Call the API-card">
            <a:extLst>
              <a:ext uri="{FF2B5EF4-FFF2-40B4-BE49-F238E27FC236}">
                <a16:creationId xmlns:a16="http://schemas.microsoft.com/office/drawing/2014/main" id="{4A2970D7-4046-4925-A2A7-341643AF63B5}"/>
              </a:ext>
            </a:extLst>
          </p:cNvPr>
          <p:cNvSpPr>
            <a:spLocks noGrp="1"/>
          </p:cNvSpPr>
          <p:nvPr/>
        </p:nvSpPr>
        <p:spPr>
          <a:xfrm>
            <a:off x="590550" y="1076325"/>
            <a:ext cx="32956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1-Call the API-number">
            <a:extLst>
              <a:ext uri="{FF2B5EF4-FFF2-40B4-BE49-F238E27FC236}">
                <a16:creationId xmlns:a16="http://schemas.microsoft.com/office/drawing/2014/main" id="{F0CCDBF4-6A84-4979-9090-4B0AFB1C7266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66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C796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796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1-Call the API-title">
            <a:extLst>
              <a:ext uri="{FF2B5EF4-FFF2-40B4-BE49-F238E27FC236}">
                <a16:creationId xmlns:a16="http://schemas.microsoft.com/office/drawing/2014/main" id="{6CB49E80-A717-4F20-992F-89C9DD9154B6}"/>
              </a:ext>
            </a:extLst>
          </p:cNvPr>
          <p:cNvSpPr>
            <a:spLocks noGrp="1"/>
          </p:cNvSpPr>
          <p:nvPr/>
        </p:nvSpPr>
        <p:spPr>
          <a:xfrm>
            <a:off x="1428750" y="1524000"/>
            <a:ext cx="228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Call the API</a:t>
            </a:r>
          </a:p>
        </p:txBody>
      </p:sp>
      <p:sp>
        <p:nvSpPr>
          <p:cNvPr id="12" name="1-Call the API-body">
            <a:extLst>
              <a:ext uri="{FF2B5EF4-FFF2-40B4-BE49-F238E27FC236}">
                <a16:creationId xmlns:a16="http://schemas.microsoft.com/office/drawing/2014/main" id="{B897C26C-BB59-4497-93C5-3EBF3CF82A66}"/>
              </a:ext>
            </a:extLst>
          </p:cNvPr>
          <p:cNvSpPr>
            <a:spLocks noGrp="1"/>
          </p:cNvSpPr>
          <p:nvPr/>
        </p:nvSpPr>
        <p:spPr>
          <a:xfrm>
            <a:off x="762000" y="2124075"/>
            <a:ext cx="29527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Python requested each indicator for all eight countries and all years.</a:t>
            </a:r>
          </a:p>
        </p:txBody>
      </p:sp>
      <p:sp>
        <p:nvSpPr>
          <p:cNvPr id="13" name="2-Keep the original-card">
            <a:extLst>
              <a:ext uri="{FF2B5EF4-FFF2-40B4-BE49-F238E27FC236}">
                <a16:creationId xmlns:a16="http://schemas.microsoft.com/office/drawing/2014/main" id="{A1A62FA6-576A-4D15-83FD-47BC214E3C39}"/>
              </a:ext>
            </a:extLst>
          </p:cNvPr>
          <p:cNvSpPr>
            <a:spLocks noGrp="1"/>
          </p:cNvSpPr>
          <p:nvPr/>
        </p:nvSpPr>
        <p:spPr>
          <a:xfrm>
            <a:off x="4267200" y="1047750"/>
            <a:ext cx="32956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2-Keep the original-number">
            <a:extLst>
              <a:ext uri="{FF2B5EF4-FFF2-40B4-BE49-F238E27FC236}">
                <a16:creationId xmlns:a16="http://schemas.microsoft.com/office/drawing/2014/main" id="{5DD242C4-FEE7-40FB-9BB9-7DC0CB32F4C3}"/>
              </a:ext>
            </a:extLst>
          </p:cNvPr>
          <p:cNvSpPr>
            <a:spLocks noGrp="1"/>
          </p:cNvSpPr>
          <p:nvPr/>
        </p:nvSpPr>
        <p:spPr>
          <a:xfrm>
            <a:off x="4438650" y="1533525"/>
            <a:ext cx="66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2-Keep the original-title">
            <a:extLst>
              <a:ext uri="{FF2B5EF4-FFF2-40B4-BE49-F238E27FC236}">
                <a16:creationId xmlns:a16="http://schemas.microsoft.com/office/drawing/2014/main" id="{E4C37558-8F84-471A-97DA-53178E8DA9BC}"/>
              </a:ext>
            </a:extLst>
          </p:cNvPr>
          <p:cNvSpPr>
            <a:spLocks noGrp="1"/>
          </p:cNvSpPr>
          <p:nvPr/>
        </p:nvSpPr>
        <p:spPr>
          <a:xfrm>
            <a:off x="5105400" y="1524000"/>
            <a:ext cx="228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Keep the original</a:t>
            </a:r>
          </a:p>
        </p:txBody>
      </p:sp>
      <p:sp>
        <p:nvSpPr>
          <p:cNvPr id="16" name="2-Keep the original-body">
            <a:extLst>
              <a:ext uri="{FF2B5EF4-FFF2-40B4-BE49-F238E27FC236}">
                <a16:creationId xmlns:a16="http://schemas.microsoft.com/office/drawing/2014/main" id="{6EA66073-A29C-4A96-929D-661CB7FD2236}"/>
              </a:ext>
            </a:extLst>
          </p:cNvPr>
          <p:cNvSpPr>
            <a:spLocks noGrp="1"/>
          </p:cNvSpPr>
          <p:nvPr/>
        </p:nvSpPr>
        <p:spPr>
          <a:xfrm>
            <a:off x="4438650" y="2124075"/>
            <a:ext cx="29527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Every API response was saved in one raw JSON file.</a:t>
            </a:r>
          </a:p>
        </p:txBody>
      </p:sp>
      <p:sp>
        <p:nvSpPr>
          <p:cNvPr id="17" name="3-Create analysis rows-card">
            <a:extLst>
              <a:ext uri="{FF2B5EF4-FFF2-40B4-BE49-F238E27FC236}">
                <a16:creationId xmlns:a16="http://schemas.microsoft.com/office/drawing/2014/main" id="{5AAAEAFB-6445-4478-8B42-C908C090ADBA}"/>
              </a:ext>
            </a:extLst>
          </p:cNvPr>
          <p:cNvSpPr>
            <a:spLocks noGrp="1"/>
          </p:cNvSpPr>
          <p:nvPr/>
        </p:nvSpPr>
        <p:spPr>
          <a:xfrm>
            <a:off x="7943850" y="1018400"/>
            <a:ext cx="329565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3-Create analysis rows-number">
            <a:extLst>
              <a:ext uri="{FF2B5EF4-FFF2-40B4-BE49-F238E27FC236}">
                <a16:creationId xmlns:a16="http://schemas.microsoft.com/office/drawing/2014/main" id="{13AB1D96-893B-41D7-994E-EB985CF3E65C}"/>
              </a:ext>
            </a:extLst>
          </p:cNvPr>
          <p:cNvSpPr>
            <a:spLocks noGrp="1"/>
          </p:cNvSpPr>
          <p:nvPr/>
        </p:nvSpPr>
        <p:spPr>
          <a:xfrm>
            <a:off x="8115300" y="1533525"/>
            <a:ext cx="66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3-Create analysis rows-title">
            <a:extLst>
              <a:ext uri="{FF2B5EF4-FFF2-40B4-BE49-F238E27FC236}">
                <a16:creationId xmlns:a16="http://schemas.microsoft.com/office/drawing/2014/main" id="{36A4A798-8202-4032-A86D-3C618BDFEAF2}"/>
              </a:ext>
            </a:extLst>
          </p:cNvPr>
          <p:cNvSpPr>
            <a:spLocks noGrp="1"/>
          </p:cNvSpPr>
          <p:nvPr/>
        </p:nvSpPr>
        <p:spPr>
          <a:xfrm>
            <a:off x="8782050" y="1524000"/>
            <a:ext cx="228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6559"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Create analysis rows</a:t>
            </a:r>
          </a:p>
        </p:txBody>
      </p:sp>
      <p:sp>
        <p:nvSpPr>
          <p:cNvPr id="20" name="3-Create analysis rows-body">
            <a:extLst>
              <a:ext uri="{FF2B5EF4-FFF2-40B4-BE49-F238E27FC236}">
                <a16:creationId xmlns:a16="http://schemas.microsoft.com/office/drawing/2014/main" id="{06B4CA51-C245-464E-B6AD-9E12F9611D05}"/>
              </a:ext>
            </a:extLst>
          </p:cNvPr>
          <p:cNvSpPr>
            <a:spLocks noGrp="1"/>
          </p:cNvSpPr>
          <p:nvPr/>
        </p:nvSpPr>
        <p:spPr>
          <a:xfrm>
            <a:off x="8115300" y="2124075"/>
            <a:ext cx="29527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The responses were reshaped into 120 country-year records.</a:t>
            </a:r>
          </a:p>
        </p:txBody>
      </p:sp>
      <p:sp>
        <p:nvSpPr>
          <p:cNvPr id="21" name="endpoint-box">
            <a:extLst>
              <a:ext uri="{FF2B5EF4-FFF2-40B4-BE49-F238E27FC236}">
                <a16:creationId xmlns:a16="http://schemas.microsoft.com/office/drawing/2014/main" id="{35E97927-DD63-442D-B69A-314B347CBE9B}"/>
              </a:ext>
            </a:extLst>
          </p:cNvPr>
          <p:cNvSpPr>
            <a:spLocks noGrp="1"/>
          </p:cNvSpPr>
          <p:nvPr/>
        </p:nvSpPr>
        <p:spPr>
          <a:xfrm>
            <a:off x="590550" y="3657600"/>
            <a:ext cx="6667500" cy="1952625"/>
          </a:xfrm>
          <a:prstGeom prst="roundRect">
            <a:avLst>
              <a:gd name="adj" fmla="val 3902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endpoint-title">
            <a:extLst>
              <a:ext uri="{FF2B5EF4-FFF2-40B4-BE49-F238E27FC236}">
                <a16:creationId xmlns:a16="http://schemas.microsoft.com/office/drawing/2014/main" id="{0960DA10-B3E1-4A9F-9E77-000D000CB48A}"/>
              </a:ext>
            </a:extLst>
          </p:cNvPr>
          <p:cNvSpPr>
            <a:spLocks noGrp="1"/>
          </p:cNvSpPr>
          <p:nvPr/>
        </p:nvSpPr>
        <p:spPr>
          <a:xfrm>
            <a:off x="819150" y="3857625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World Bank Indicators API v2</a:t>
            </a:r>
          </a:p>
        </p:txBody>
      </p:sp>
      <p:sp>
        <p:nvSpPr>
          <p:cNvPr id="23" name="endpoint-code">
            <a:extLst>
              <a:ext uri="{FF2B5EF4-FFF2-40B4-BE49-F238E27FC236}">
                <a16:creationId xmlns:a16="http://schemas.microsoft.com/office/drawing/2014/main" id="{C05620A6-12BC-4F02-96D6-4AD50CD93B09}"/>
              </a:ext>
            </a:extLst>
          </p:cNvPr>
          <p:cNvSpPr>
            <a:spLocks noGrp="1"/>
          </p:cNvSpPr>
          <p:nvPr/>
        </p:nvSpPr>
        <p:spPr>
          <a:xfrm>
            <a:off x="819150" y="4324350"/>
            <a:ext cx="609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GET /v2/country/{EAC codes}/indicator/{indicator}</a:t>
            </a:r>
          </a:p>
        </p:txBody>
      </p:sp>
      <p:sp>
        <p:nvSpPr>
          <p:cNvPr id="24" name="endpoint-params">
            <a:extLst>
              <a:ext uri="{FF2B5EF4-FFF2-40B4-BE49-F238E27FC236}">
                <a16:creationId xmlns:a16="http://schemas.microsoft.com/office/drawing/2014/main" id="{8026C654-A1DD-4345-93A4-45676B11564C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date=2010:2024   ·   format=json   ·   per_page=20000</a:t>
            </a:r>
          </a:p>
        </p:txBody>
      </p:sp>
      <p:sp>
        <p:nvSpPr>
          <p:cNvPr id="25" name="endpoint-indicators">
            <a:extLst>
              <a:ext uri="{FF2B5EF4-FFF2-40B4-BE49-F238E27FC236}">
                <a16:creationId xmlns:a16="http://schemas.microsoft.com/office/drawing/2014/main" id="{4E3307ED-5EC6-4936-B94A-8DB7E58C8998}"/>
              </a:ext>
            </a:extLst>
          </p:cNvPr>
          <p:cNvSpPr>
            <a:spLocks noGrp="1"/>
          </p:cNvSpPr>
          <p:nvPr/>
        </p:nvSpPr>
        <p:spPr>
          <a:xfrm>
            <a:off x="819150" y="5191125"/>
            <a:ext cx="6096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287"/>
          </a:bodyPr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Indicators: real GDP/person · GDP growth · life expectancy · secondary enrolment</a:t>
            </a:r>
          </a:p>
        </p:txBody>
      </p:sp>
      <p:sp>
        <p:nvSpPr>
          <p:cNvPr id="26" name="country-year rows-card">
            <a:extLst>
              <a:ext uri="{FF2B5EF4-FFF2-40B4-BE49-F238E27FC236}">
                <a16:creationId xmlns:a16="http://schemas.microsoft.com/office/drawing/2014/main" id="{8DFE7708-40A7-4CA5-A0C4-9E8C90BBA1F8}"/>
              </a:ext>
            </a:extLst>
          </p:cNvPr>
          <p:cNvSpPr>
            <a:spLocks noGrp="1"/>
          </p:cNvSpPr>
          <p:nvPr/>
        </p:nvSpPr>
        <p:spPr>
          <a:xfrm>
            <a:off x="7620000" y="3657600"/>
            <a:ext cx="1905000" cy="195262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country-year rows-accent">
            <a:extLst>
              <a:ext uri="{FF2B5EF4-FFF2-40B4-BE49-F238E27FC236}">
                <a16:creationId xmlns:a16="http://schemas.microsoft.com/office/drawing/2014/main" id="{98C0DE42-4A82-40C4-A016-2938FCA2D563}"/>
              </a:ext>
            </a:extLst>
          </p:cNvPr>
          <p:cNvSpPr>
            <a:spLocks noGrp="1"/>
          </p:cNvSpPr>
          <p:nvPr/>
        </p:nvSpPr>
        <p:spPr>
          <a:xfrm>
            <a:off x="7620000" y="3657600"/>
            <a:ext cx="1905000" cy="66675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country-year rows-value">
            <a:extLst>
              <a:ext uri="{FF2B5EF4-FFF2-40B4-BE49-F238E27FC236}">
                <a16:creationId xmlns:a16="http://schemas.microsoft.com/office/drawing/2014/main" id="{26CEE592-D672-490F-B7A8-71CEBE61858C}"/>
              </a:ext>
            </a:extLst>
          </p:cNvPr>
          <p:cNvSpPr>
            <a:spLocks noGrp="1"/>
          </p:cNvSpPr>
          <p:nvPr/>
        </p:nvSpPr>
        <p:spPr>
          <a:xfrm>
            <a:off x="7791450" y="3829050"/>
            <a:ext cx="1562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29" name="country-year rows-label">
            <a:extLst>
              <a:ext uri="{FF2B5EF4-FFF2-40B4-BE49-F238E27FC236}">
                <a16:creationId xmlns:a16="http://schemas.microsoft.com/office/drawing/2014/main" id="{3838C717-4405-4E2F-9297-6B2971344DBF}"/>
              </a:ext>
            </a:extLst>
          </p:cNvPr>
          <p:cNvSpPr>
            <a:spLocks noGrp="1"/>
          </p:cNvSpPr>
          <p:nvPr/>
        </p:nvSpPr>
        <p:spPr>
          <a:xfrm>
            <a:off x="7791450" y="4343400"/>
            <a:ext cx="1562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902"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country-year rows</a:t>
            </a:r>
          </a:p>
        </p:txBody>
      </p:sp>
      <p:sp>
        <p:nvSpPr>
          <p:cNvPr id="30" name="country-year rows-note">
            <a:extLst>
              <a:ext uri="{FF2B5EF4-FFF2-40B4-BE49-F238E27FC236}">
                <a16:creationId xmlns:a16="http://schemas.microsoft.com/office/drawing/2014/main" id="{FC907488-D1D5-46C7-A577-B89C153FDAC2}"/>
              </a:ext>
            </a:extLst>
          </p:cNvPr>
          <p:cNvSpPr>
            <a:spLocks noGrp="1"/>
          </p:cNvSpPr>
          <p:nvPr/>
        </p:nvSpPr>
        <p:spPr>
          <a:xfrm>
            <a:off x="7791450" y="528637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8 countries × 15 years</a:t>
            </a:r>
          </a:p>
        </p:txBody>
      </p:sp>
      <p:sp>
        <p:nvSpPr>
          <p:cNvPr id="31" name="values observed-card">
            <a:extLst>
              <a:ext uri="{FF2B5EF4-FFF2-40B4-BE49-F238E27FC236}">
                <a16:creationId xmlns:a16="http://schemas.microsoft.com/office/drawing/2014/main" id="{E89078C5-650C-456C-9370-723CB74895B3}"/>
              </a:ext>
            </a:extLst>
          </p:cNvPr>
          <p:cNvSpPr>
            <a:spLocks noGrp="1"/>
          </p:cNvSpPr>
          <p:nvPr/>
        </p:nvSpPr>
        <p:spPr>
          <a:xfrm>
            <a:off x="9696450" y="3657600"/>
            <a:ext cx="1905000" cy="195262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values observed-accent">
            <a:extLst>
              <a:ext uri="{FF2B5EF4-FFF2-40B4-BE49-F238E27FC236}">
                <a16:creationId xmlns:a16="http://schemas.microsoft.com/office/drawing/2014/main" id="{33793C15-8FAF-4C2A-B6E0-C99D4AEAA381}"/>
              </a:ext>
            </a:extLst>
          </p:cNvPr>
          <p:cNvSpPr>
            <a:spLocks noGrp="1"/>
          </p:cNvSpPr>
          <p:nvPr/>
        </p:nvSpPr>
        <p:spPr>
          <a:xfrm>
            <a:off x="9696450" y="3657600"/>
            <a:ext cx="1905000" cy="66675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values observed-value">
            <a:extLst>
              <a:ext uri="{FF2B5EF4-FFF2-40B4-BE49-F238E27FC236}">
                <a16:creationId xmlns:a16="http://schemas.microsoft.com/office/drawing/2014/main" id="{EE7F811D-B0E6-4093-80F9-9C8A83BB1280}"/>
              </a:ext>
            </a:extLst>
          </p:cNvPr>
          <p:cNvSpPr>
            <a:spLocks noGrp="1"/>
          </p:cNvSpPr>
          <p:nvPr/>
        </p:nvSpPr>
        <p:spPr>
          <a:xfrm>
            <a:off x="9867900" y="3829050"/>
            <a:ext cx="1562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82.1%</a:t>
            </a:r>
          </a:p>
        </p:txBody>
      </p:sp>
      <p:sp>
        <p:nvSpPr>
          <p:cNvPr id="34" name="values observed-label">
            <a:extLst>
              <a:ext uri="{FF2B5EF4-FFF2-40B4-BE49-F238E27FC236}">
                <a16:creationId xmlns:a16="http://schemas.microsoft.com/office/drawing/2014/main" id="{7D99AEA3-921E-40F8-A5E9-C81581B4390F}"/>
              </a:ext>
            </a:extLst>
          </p:cNvPr>
          <p:cNvSpPr>
            <a:spLocks noGrp="1"/>
          </p:cNvSpPr>
          <p:nvPr/>
        </p:nvSpPr>
        <p:spPr>
          <a:xfrm>
            <a:off x="9867900" y="4343400"/>
            <a:ext cx="1562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values observed</a:t>
            </a:r>
          </a:p>
        </p:txBody>
      </p:sp>
      <p:sp>
        <p:nvSpPr>
          <p:cNvPr id="35" name="values observed-note">
            <a:extLst>
              <a:ext uri="{FF2B5EF4-FFF2-40B4-BE49-F238E27FC236}">
                <a16:creationId xmlns:a16="http://schemas.microsoft.com/office/drawing/2014/main" id="{945B8B7F-0A58-4B0A-8BDC-859E714E1A50}"/>
              </a:ext>
            </a:extLst>
          </p:cNvPr>
          <p:cNvSpPr>
            <a:spLocks noGrp="1"/>
          </p:cNvSpPr>
          <p:nvPr/>
        </p:nvSpPr>
        <p:spPr>
          <a:xfrm>
            <a:off x="9867900" y="528637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of all expected cells</a:t>
            </a:r>
          </a:p>
        </p:txBody>
      </p:sp>
    </p:spTree>
    <p:extLst>
      <p:ext uri="{BB962C8B-B14F-4D97-AF65-F5344CB8AC3E}">
        <p14:creationId xmlns:p14="http://schemas.microsoft.com/office/powerpoint/2010/main" val="990396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op-rule-gold">
            <a:extLst>
              <a:ext uri="{FF2B5EF4-FFF2-40B4-BE49-F238E27FC236}">
                <a16:creationId xmlns:a16="http://schemas.microsoft.com/office/drawing/2014/main" id="{EA61F5B4-AD57-4852-875F-081B30C7E3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66FD43E8-91A4-4B2E-A99B-3A95C302B929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34414C30-484A-4B62-8848-0F5F136F2F33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10EAB610-C0E8-4338-BB93-93ABA4C0137C}"/>
              </a:ext>
            </a:extLst>
          </p:cNvPr>
          <p:cNvSpPr>
            <a:spLocks noGrp="1"/>
          </p:cNvSpPr>
          <p:nvPr/>
        </p:nvSpPr>
        <p:spPr>
          <a:xfrm>
            <a:off x="590549" y="238124"/>
            <a:ext cx="7426399" cy="51234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EXPECTATION 2 · DATA QUALITY ASSESSMENT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05A70097-CD81-4BF2-BDCC-501D7B15324C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8EEB7237-2C48-41E5-9B6F-CF801635314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completeness-frame">
            <a:extLst>
              <a:ext uri="{FF2B5EF4-FFF2-40B4-BE49-F238E27FC236}">
                <a16:creationId xmlns:a16="http://schemas.microsoft.com/office/drawing/2014/main" id="{FB9A4A0A-36F7-4091-8B9F-E47689ADD090}"/>
              </a:ext>
            </a:extLst>
          </p:cNvPr>
          <p:cNvSpPr>
            <a:spLocks noGrp="1"/>
          </p:cNvSpPr>
          <p:nvPr/>
        </p:nvSpPr>
        <p:spPr>
          <a:xfrm>
            <a:off x="590550" y="1371600"/>
            <a:ext cx="61912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1788697"/>
            <a:ext cx="5924550" cy="3261556"/>
          </a:xfrm>
          <a:prstGeom prst="rect">
            <a:avLst/>
          </a:prstGeom>
        </p:spPr>
      </p:pic>
      <p:sp>
        <p:nvSpPr>
          <p:cNvPr id="11" name="duplicate rows-card">
            <a:extLst>
              <a:ext uri="{FF2B5EF4-FFF2-40B4-BE49-F238E27FC236}">
                <a16:creationId xmlns:a16="http://schemas.microsoft.com/office/drawing/2014/main" id="{579C2417-4F3F-406C-901C-67F46B090CFF}"/>
              </a:ext>
            </a:extLst>
          </p:cNvPr>
          <p:cNvSpPr>
            <a:spLocks noGrp="1"/>
          </p:cNvSpPr>
          <p:nvPr/>
        </p:nvSpPr>
        <p:spPr>
          <a:xfrm>
            <a:off x="7086600" y="137160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duplicate rows-accent">
            <a:extLst>
              <a:ext uri="{FF2B5EF4-FFF2-40B4-BE49-F238E27FC236}">
                <a16:creationId xmlns:a16="http://schemas.microsoft.com/office/drawing/2014/main" id="{CFF73A3A-03B6-4B13-A902-B38F0E7BA20F}"/>
              </a:ext>
            </a:extLst>
          </p:cNvPr>
          <p:cNvSpPr>
            <a:spLocks noGrp="1"/>
          </p:cNvSpPr>
          <p:nvPr/>
        </p:nvSpPr>
        <p:spPr>
          <a:xfrm>
            <a:off x="7086600" y="1371600"/>
            <a:ext cx="2095500" cy="66675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duplicate rows-value">
            <a:extLst>
              <a:ext uri="{FF2B5EF4-FFF2-40B4-BE49-F238E27FC236}">
                <a16:creationId xmlns:a16="http://schemas.microsoft.com/office/drawing/2014/main" id="{CDE0E86F-E00D-40B5-902A-26D913CDCDED}"/>
              </a:ext>
            </a:extLst>
          </p:cNvPr>
          <p:cNvSpPr>
            <a:spLocks noGrp="1"/>
          </p:cNvSpPr>
          <p:nvPr/>
        </p:nvSpPr>
        <p:spPr>
          <a:xfrm>
            <a:off x="7258050" y="1543050"/>
            <a:ext cx="1752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duplicate rows-label">
            <a:extLst>
              <a:ext uri="{FF2B5EF4-FFF2-40B4-BE49-F238E27FC236}">
                <a16:creationId xmlns:a16="http://schemas.microsoft.com/office/drawing/2014/main" id="{637D5833-4DB2-42FA-A3F0-B5AFF0704502}"/>
              </a:ext>
            </a:extLst>
          </p:cNvPr>
          <p:cNvSpPr>
            <a:spLocks noGrp="1"/>
          </p:cNvSpPr>
          <p:nvPr/>
        </p:nvSpPr>
        <p:spPr>
          <a:xfrm>
            <a:off x="7258050" y="205740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duplicate rows</a:t>
            </a:r>
          </a:p>
        </p:txBody>
      </p:sp>
      <p:sp>
        <p:nvSpPr>
          <p:cNvPr id="15" name="missing values-card">
            <a:extLst>
              <a:ext uri="{FF2B5EF4-FFF2-40B4-BE49-F238E27FC236}">
                <a16:creationId xmlns:a16="http://schemas.microsoft.com/office/drawing/2014/main" id="{67162017-C927-4D02-8C62-1F55DCF6DBAC}"/>
              </a:ext>
            </a:extLst>
          </p:cNvPr>
          <p:cNvSpPr>
            <a:spLocks noGrp="1"/>
          </p:cNvSpPr>
          <p:nvPr/>
        </p:nvSpPr>
        <p:spPr>
          <a:xfrm>
            <a:off x="9410700" y="1371600"/>
            <a:ext cx="2190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missing values-accent">
            <a:extLst>
              <a:ext uri="{FF2B5EF4-FFF2-40B4-BE49-F238E27FC236}">
                <a16:creationId xmlns:a16="http://schemas.microsoft.com/office/drawing/2014/main" id="{3B079D52-0097-45DD-8DD9-9D2C23BE76B1}"/>
              </a:ext>
            </a:extLst>
          </p:cNvPr>
          <p:cNvSpPr>
            <a:spLocks noGrp="1"/>
          </p:cNvSpPr>
          <p:nvPr/>
        </p:nvSpPr>
        <p:spPr>
          <a:xfrm>
            <a:off x="9410700" y="1371600"/>
            <a:ext cx="2190750" cy="66675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missing values-value">
            <a:extLst>
              <a:ext uri="{FF2B5EF4-FFF2-40B4-BE49-F238E27FC236}">
                <a16:creationId xmlns:a16="http://schemas.microsoft.com/office/drawing/2014/main" id="{3119902B-2337-4BCD-99C6-EC21F62A89CA}"/>
              </a:ext>
            </a:extLst>
          </p:cNvPr>
          <p:cNvSpPr>
            <a:spLocks noGrp="1"/>
          </p:cNvSpPr>
          <p:nvPr/>
        </p:nvSpPr>
        <p:spPr>
          <a:xfrm>
            <a:off x="9582150" y="1543050"/>
            <a:ext cx="1847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18" name="missing values-label">
            <a:extLst>
              <a:ext uri="{FF2B5EF4-FFF2-40B4-BE49-F238E27FC236}">
                <a16:creationId xmlns:a16="http://schemas.microsoft.com/office/drawing/2014/main" id="{9223E240-38D9-4510-9B22-B8E950742D9E}"/>
              </a:ext>
            </a:extLst>
          </p:cNvPr>
          <p:cNvSpPr>
            <a:spLocks noGrp="1"/>
          </p:cNvSpPr>
          <p:nvPr/>
        </p:nvSpPr>
        <p:spPr>
          <a:xfrm>
            <a:off x="9582150" y="2057400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missing values</a:t>
            </a:r>
          </a:p>
        </p:txBody>
      </p:sp>
      <p:sp>
        <p:nvSpPr>
          <p:cNvPr id="19" name="missing values-note">
            <a:extLst>
              <a:ext uri="{FF2B5EF4-FFF2-40B4-BE49-F238E27FC236}">
                <a16:creationId xmlns:a16="http://schemas.microsoft.com/office/drawing/2014/main" id="{B30A45E6-E3C1-487B-AB59-4B593A39E35D}"/>
              </a:ext>
            </a:extLst>
          </p:cNvPr>
          <p:cNvSpPr>
            <a:spLocks noGrp="1"/>
          </p:cNvSpPr>
          <p:nvPr/>
        </p:nvSpPr>
        <p:spPr>
          <a:xfrm>
            <a:off x="9582150" y="24765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before cleaning</a:t>
            </a:r>
          </a:p>
        </p:txBody>
      </p:sp>
      <p:sp>
        <p:nvSpPr>
          <p:cNvPr id="20" name="outlier candidates-card">
            <a:extLst>
              <a:ext uri="{FF2B5EF4-FFF2-40B4-BE49-F238E27FC236}">
                <a16:creationId xmlns:a16="http://schemas.microsoft.com/office/drawing/2014/main" id="{844E155E-C63B-4838-92EB-EF6220B5BD95}"/>
              </a:ext>
            </a:extLst>
          </p:cNvPr>
          <p:cNvSpPr>
            <a:spLocks noGrp="1"/>
          </p:cNvSpPr>
          <p:nvPr/>
        </p:nvSpPr>
        <p:spPr>
          <a:xfrm>
            <a:off x="7086600" y="300990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outlier candidates-accent">
            <a:extLst>
              <a:ext uri="{FF2B5EF4-FFF2-40B4-BE49-F238E27FC236}">
                <a16:creationId xmlns:a16="http://schemas.microsoft.com/office/drawing/2014/main" id="{15C7E508-BFAA-495E-96CA-89D3037C665F}"/>
              </a:ext>
            </a:extLst>
          </p:cNvPr>
          <p:cNvSpPr>
            <a:spLocks noGrp="1"/>
          </p:cNvSpPr>
          <p:nvPr/>
        </p:nvSpPr>
        <p:spPr>
          <a:xfrm>
            <a:off x="7086600" y="3009900"/>
            <a:ext cx="2095500" cy="66675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outlier candidates-value">
            <a:extLst>
              <a:ext uri="{FF2B5EF4-FFF2-40B4-BE49-F238E27FC236}">
                <a16:creationId xmlns:a16="http://schemas.microsoft.com/office/drawing/2014/main" id="{9F90551D-0CB6-43C1-9F1B-DF6787C43ABA}"/>
              </a:ext>
            </a:extLst>
          </p:cNvPr>
          <p:cNvSpPr>
            <a:spLocks noGrp="1"/>
          </p:cNvSpPr>
          <p:nvPr/>
        </p:nvSpPr>
        <p:spPr>
          <a:xfrm>
            <a:off x="7258050" y="3181350"/>
            <a:ext cx="1752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3" name="outlier candidates-label">
            <a:extLst>
              <a:ext uri="{FF2B5EF4-FFF2-40B4-BE49-F238E27FC236}">
                <a16:creationId xmlns:a16="http://schemas.microsoft.com/office/drawing/2014/main" id="{2BEB0A9F-0A49-49C5-847B-378C5845E137}"/>
              </a:ext>
            </a:extLst>
          </p:cNvPr>
          <p:cNvSpPr>
            <a:spLocks noGrp="1"/>
          </p:cNvSpPr>
          <p:nvPr/>
        </p:nvSpPr>
        <p:spPr>
          <a:xfrm>
            <a:off x="7258050" y="3695700"/>
            <a:ext cx="1752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outlier candidates</a:t>
            </a:r>
          </a:p>
        </p:txBody>
      </p:sp>
      <p:sp>
        <p:nvSpPr>
          <p:cNvPr id="24" name="outlier candidates-note">
            <a:extLst>
              <a:ext uri="{FF2B5EF4-FFF2-40B4-BE49-F238E27FC236}">
                <a16:creationId xmlns:a16="http://schemas.microsoft.com/office/drawing/2014/main" id="{EDE79089-A046-4AD0-9F2E-8BE12463A121}"/>
              </a:ext>
            </a:extLst>
          </p:cNvPr>
          <p:cNvSpPr>
            <a:spLocks noGrp="1"/>
          </p:cNvSpPr>
          <p:nvPr/>
        </p:nvSpPr>
        <p:spPr>
          <a:xfrm>
            <a:off x="7258050" y="41148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flagged by the IQR rule</a:t>
            </a:r>
          </a:p>
        </p:txBody>
      </p:sp>
      <p:sp>
        <p:nvSpPr>
          <p:cNvPr id="25" name="education observed-card">
            <a:extLst>
              <a:ext uri="{FF2B5EF4-FFF2-40B4-BE49-F238E27FC236}">
                <a16:creationId xmlns:a16="http://schemas.microsoft.com/office/drawing/2014/main" id="{392F82EB-2FD2-43D8-BB35-99A39EC15C59}"/>
              </a:ext>
            </a:extLst>
          </p:cNvPr>
          <p:cNvSpPr>
            <a:spLocks noGrp="1"/>
          </p:cNvSpPr>
          <p:nvPr/>
        </p:nvSpPr>
        <p:spPr>
          <a:xfrm>
            <a:off x="9410700" y="3009900"/>
            <a:ext cx="2190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education observed-accent">
            <a:extLst>
              <a:ext uri="{FF2B5EF4-FFF2-40B4-BE49-F238E27FC236}">
                <a16:creationId xmlns:a16="http://schemas.microsoft.com/office/drawing/2014/main" id="{FA29D7B0-506C-4B7D-881D-46D9455EEE4D}"/>
              </a:ext>
            </a:extLst>
          </p:cNvPr>
          <p:cNvSpPr>
            <a:spLocks noGrp="1"/>
          </p:cNvSpPr>
          <p:nvPr/>
        </p:nvSpPr>
        <p:spPr>
          <a:xfrm>
            <a:off x="9410700" y="3009900"/>
            <a:ext cx="2190750" cy="66675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education observed-value">
            <a:extLst>
              <a:ext uri="{FF2B5EF4-FFF2-40B4-BE49-F238E27FC236}">
                <a16:creationId xmlns:a16="http://schemas.microsoft.com/office/drawing/2014/main" id="{A7DF965E-35CD-4EEE-934C-DDE0E1DE06EA}"/>
              </a:ext>
            </a:extLst>
          </p:cNvPr>
          <p:cNvSpPr>
            <a:spLocks noGrp="1"/>
          </p:cNvSpPr>
          <p:nvPr/>
        </p:nvSpPr>
        <p:spPr>
          <a:xfrm>
            <a:off x="9582150" y="3181350"/>
            <a:ext cx="1847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43.3%</a:t>
            </a:r>
          </a:p>
        </p:txBody>
      </p:sp>
      <p:sp>
        <p:nvSpPr>
          <p:cNvPr id="28" name="education observed-label">
            <a:extLst>
              <a:ext uri="{FF2B5EF4-FFF2-40B4-BE49-F238E27FC236}">
                <a16:creationId xmlns:a16="http://schemas.microsoft.com/office/drawing/2014/main" id="{5557014E-683E-4C21-8BAB-7A3129397563}"/>
              </a:ext>
            </a:extLst>
          </p:cNvPr>
          <p:cNvSpPr>
            <a:spLocks noGrp="1"/>
          </p:cNvSpPr>
          <p:nvPr/>
        </p:nvSpPr>
        <p:spPr>
          <a:xfrm>
            <a:off x="9582150" y="3695700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education observed</a:t>
            </a:r>
          </a:p>
        </p:txBody>
      </p:sp>
      <p:sp>
        <p:nvSpPr>
          <p:cNvPr id="29" name="education observed-note">
            <a:extLst>
              <a:ext uri="{FF2B5EF4-FFF2-40B4-BE49-F238E27FC236}">
                <a16:creationId xmlns:a16="http://schemas.microsoft.com/office/drawing/2014/main" id="{28E8FF5A-1F5B-4623-B741-060E39007A69}"/>
              </a:ext>
            </a:extLst>
          </p:cNvPr>
          <p:cNvSpPr>
            <a:spLocks noGrp="1"/>
          </p:cNvSpPr>
          <p:nvPr/>
        </p:nvSpPr>
        <p:spPr>
          <a:xfrm>
            <a:off x="9582150" y="4114800"/>
            <a:ext cx="1847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largest original gap</a:t>
            </a:r>
          </a:p>
        </p:txBody>
      </p:sp>
      <p:sp>
        <p:nvSpPr>
          <p:cNvPr id="30" name="cleaning-decisions">
            <a:extLst>
              <a:ext uri="{FF2B5EF4-FFF2-40B4-BE49-F238E27FC236}">
                <a16:creationId xmlns:a16="http://schemas.microsoft.com/office/drawing/2014/main" id="{A23BD3C2-CCB1-4392-9614-2B3DC30A2E22}"/>
              </a:ext>
            </a:extLst>
          </p:cNvPr>
          <p:cNvSpPr>
            <a:spLocks noGrp="1"/>
          </p:cNvSpPr>
          <p:nvPr/>
        </p:nvSpPr>
        <p:spPr>
          <a:xfrm>
            <a:off x="7086600" y="4667250"/>
            <a:ext cx="4514850" cy="1304925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cleaning-title">
            <a:extLst>
              <a:ext uri="{FF2B5EF4-FFF2-40B4-BE49-F238E27FC236}">
                <a16:creationId xmlns:a16="http://schemas.microsoft.com/office/drawing/2014/main" id="{1855BDF9-7AE7-411D-89A8-C25DCCDA2AEE}"/>
              </a:ext>
            </a:extLst>
          </p:cNvPr>
          <p:cNvSpPr>
            <a:spLocks noGrp="1"/>
          </p:cNvSpPr>
          <p:nvPr/>
        </p:nvSpPr>
        <p:spPr>
          <a:xfrm>
            <a:off x="7277100" y="481965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What this told us</a:t>
            </a:r>
          </a:p>
        </p:txBody>
      </p:sp>
      <p:sp>
        <p:nvSpPr>
          <p:cNvPr id="32" name="cleaning-body">
            <a:extLst>
              <a:ext uri="{FF2B5EF4-FFF2-40B4-BE49-F238E27FC236}">
                <a16:creationId xmlns:a16="http://schemas.microsoft.com/office/drawing/2014/main" id="{2AB3DF8F-B79F-40EB-B13F-05CD055B2AA7}"/>
              </a:ext>
            </a:extLst>
          </p:cNvPr>
          <p:cNvSpPr>
            <a:spLocks noGrp="1"/>
          </p:cNvSpPr>
          <p:nvPr/>
        </p:nvSpPr>
        <p:spPr>
          <a:xfrm>
            <a:off x="7277100" y="5191125"/>
            <a:ext cx="4095750" cy="619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278" lnSpcReduction="10000"/>
          </a:bodyPr>
          <a:lstStyle/>
          <a:p>
            <a:pPr algn="l">
              <a:defRPr sz="150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Most missing cells were in secondary enrolment. We also separated unusual values from values that were genuinely impossible.</a:t>
            </a:r>
          </a:p>
        </p:txBody>
      </p:sp>
    </p:spTree>
    <p:extLst>
      <p:ext uri="{BB962C8B-B14F-4D97-AF65-F5344CB8AC3E}">
        <p14:creationId xmlns:p14="http://schemas.microsoft.com/office/powerpoint/2010/main" val="147815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op-rule-gold">
            <a:extLst>
              <a:ext uri="{FF2B5EF4-FFF2-40B4-BE49-F238E27FC236}">
                <a16:creationId xmlns:a16="http://schemas.microsoft.com/office/drawing/2014/main" id="{636663BB-5494-4085-A4FB-C1DC98017D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C192C559-A527-4B70-9E09-DDFF991C0B00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7791D23E-311C-432B-86E5-450EC9D6CEA9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EC01851B-5A90-455C-80DE-34D0B58A058F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EXPECTATION 3 · PREPROCESSING DECISIONS</a:t>
            </a:r>
            <a:r>
              <a:rPr lang="en-US" sz="24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– DATA CLEANING.</a:t>
            </a:r>
            <a:endParaRPr sz="2400" b="1" dirty="0">
              <a:solidFill>
                <a:srgbClr val="E52D2C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A1563E94-0C34-4792-9FA9-D00F23108C59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C18F0B0B-7C6F-4E3A-817F-2E692A47DD3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treatment-summary-frame">
            <a:extLst>
              <a:ext uri="{FF2B5EF4-FFF2-40B4-BE49-F238E27FC236}">
                <a16:creationId xmlns:a16="http://schemas.microsoft.com/office/drawing/2014/main" id="{4D8CB753-228B-418D-84D4-24B8952AC310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6667500" cy="462915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2239007"/>
            <a:ext cx="6400800" cy="2913386"/>
          </a:xfrm>
          <a:prstGeom prst="rect">
            <a:avLst/>
          </a:prstGeom>
        </p:spPr>
      </p:pic>
      <p:sp>
        <p:nvSpPr>
          <p:cNvPr id="11" name="values imputed-card">
            <a:extLst>
              <a:ext uri="{FF2B5EF4-FFF2-40B4-BE49-F238E27FC236}">
                <a16:creationId xmlns:a16="http://schemas.microsoft.com/office/drawing/2014/main" id="{3BCE1820-B656-4EB2-890E-A3F80880CC0B}"/>
              </a:ext>
            </a:extLst>
          </p:cNvPr>
          <p:cNvSpPr>
            <a:spLocks noGrp="1"/>
          </p:cNvSpPr>
          <p:nvPr/>
        </p:nvSpPr>
        <p:spPr>
          <a:xfrm>
            <a:off x="7524750" y="1381125"/>
            <a:ext cx="19240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values imputed-accent">
            <a:extLst>
              <a:ext uri="{FF2B5EF4-FFF2-40B4-BE49-F238E27FC236}">
                <a16:creationId xmlns:a16="http://schemas.microsoft.com/office/drawing/2014/main" id="{69FD5FDB-4BCF-4CC6-9979-F9BC822862D7}"/>
              </a:ext>
            </a:extLst>
          </p:cNvPr>
          <p:cNvSpPr>
            <a:spLocks noGrp="1"/>
          </p:cNvSpPr>
          <p:nvPr/>
        </p:nvSpPr>
        <p:spPr>
          <a:xfrm>
            <a:off x="7524750" y="1381125"/>
            <a:ext cx="1924050" cy="66675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values imputed-value">
            <a:extLst>
              <a:ext uri="{FF2B5EF4-FFF2-40B4-BE49-F238E27FC236}">
                <a16:creationId xmlns:a16="http://schemas.microsoft.com/office/drawing/2014/main" id="{8889A24C-286D-4EAA-8764-88DB206F03DE}"/>
              </a:ext>
            </a:extLst>
          </p:cNvPr>
          <p:cNvSpPr>
            <a:spLocks noGrp="1"/>
          </p:cNvSpPr>
          <p:nvPr/>
        </p:nvSpPr>
        <p:spPr>
          <a:xfrm>
            <a:off x="7696200" y="1552575"/>
            <a:ext cx="1581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14" name="values imputed-label">
            <a:extLst>
              <a:ext uri="{FF2B5EF4-FFF2-40B4-BE49-F238E27FC236}">
                <a16:creationId xmlns:a16="http://schemas.microsoft.com/office/drawing/2014/main" id="{F052FAE9-F9E7-41AF-A5A7-342B670EB244}"/>
              </a:ext>
            </a:extLst>
          </p:cNvPr>
          <p:cNvSpPr>
            <a:spLocks noGrp="1"/>
          </p:cNvSpPr>
          <p:nvPr/>
        </p:nvSpPr>
        <p:spPr>
          <a:xfrm>
            <a:off x="7696200" y="2066925"/>
            <a:ext cx="1581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64646D"/>
                </a:solidFill>
                <a:latin typeface="Aptos"/>
                <a:ea typeface="Aptos"/>
                <a:cs typeface="Aptos"/>
              </a:rPr>
              <a:t>values imputed</a:t>
            </a:r>
          </a:p>
        </p:txBody>
      </p:sp>
      <p:sp>
        <p:nvSpPr>
          <p:cNvPr id="15" name="values imputed-note">
            <a:extLst>
              <a:ext uri="{FF2B5EF4-FFF2-40B4-BE49-F238E27FC236}">
                <a16:creationId xmlns:a16="http://schemas.microsoft.com/office/drawing/2014/main" id="{30575583-5A3A-4887-A6CC-5F8CAED20EE4}"/>
              </a:ext>
            </a:extLst>
          </p:cNvPr>
          <p:cNvSpPr>
            <a:spLocks noGrp="1"/>
          </p:cNvSpPr>
          <p:nvPr/>
        </p:nvSpPr>
        <p:spPr>
          <a:xfrm>
            <a:off x="7696200" y="234315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each one is flagged</a:t>
            </a:r>
          </a:p>
        </p:txBody>
      </p:sp>
      <p:sp>
        <p:nvSpPr>
          <p:cNvPr id="16" name="blanks after-card">
            <a:extLst>
              <a:ext uri="{FF2B5EF4-FFF2-40B4-BE49-F238E27FC236}">
                <a16:creationId xmlns:a16="http://schemas.microsoft.com/office/drawing/2014/main" id="{BD0621EC-2C89-4402-9E2C-3F4DC45C11D5}"/>
              </a:ext>
            </a:extLst>
          </p:cNvPr>
          <p:cNvSpPr>
            <a:spLocks noGrp="1"/>
          </p:cNvSpPr>
          <p:nvPr/>
        </p:nvSpPr>
        <p:spPr>
          <a:xfrm>
            <a:off x="9677400" y="1381125"/>
            <a:ext cx="19240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blanks after-accent">
            <a:extLst>
              <a:ext uri="{FF2B5EF4-FFF2-40B4-BE49-F238E27FC236}">
                <a16:creationId xmlns:a16="http://schemas.microsoft.com/office/drawing/2014/main" id="{6991B97F-5592-4FD8-9CE1-0598D73845E2}"/>
              </a:ext>
            </a:extLst>
          </p:cNvPr>
          <p:cNvSpPr>
            <a:spLocks noGrp="1"/>
          </p:cNvSpPr>
          <p:nvPr/>
        </p:nvSpPr>
        <p:spPr>
          <a:xfrm>
            <a:off x="9677400" y="1381125"/>
            <a:ext cx="1924050" cy="66675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blanks after-value">
            <a:extLst>
              <a:ext uri="{FF2B5EF4-FFF2-40B4-BE49-F238E27FC236}">
                <a16:creationId xmlns:a16="http://schemas.microsoft.com/office/drawing/2014/main" id="{1FA7F15B-4C93-4EED-886F-BEAB9B6DA4BE}"/>
              </a:ext>
            </a:extLst>
          </p:cNvPr>
          <p:cNvSpPr>
            <a:spLocks noGrp="1"/>
          </p:cNvSpPr>
          <p:nvPr/>
        </p:nvSpPr>
        <p:spPr>
          <a:xfrm>
            <a:off x="9848850" y="1552575"/>
            <a:ext cx="1581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blanks after-label">
            <a:extLst>
              <a:ext uri="{FF2B5EF4-FFF2-40B4-BE49-F238E27FC236}">
                <a16:creationId xmlns:a16="http://schemas.microsoft.com/office/drawing/2014/main" id="{B41DECE9-BF63-4D5C-8539-7355141218CE}"/>
              </a:ext>
            </a:extLst>
          </p:cNvPr>
          <p:cNvSpPr>
            <a:spLocks noGrp="1"/>
          </p:cNvSpPr>
          <p:nvPr/>
        </p:nvSpPr>
        <p:spPr>
          <a:xfrm>
            <a:off x="9848850" y="2066925"/>
            <a:ext cx="1581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blanks after</a:t>
            </a:r>
          </a:p>
        </p:txBody>
      </p:sp>
      <p:sp>
        <p:nvSpPr>
          <p:cNvPr id="20" name="blanks after-note">
            <a:extLst>
              <a:ext uri="{FF2B5EF4-FFF2-40B4-BE49-F238E27FC236}">
                <a16:creationId xmlns:a16="http://schemas.microsoft.com/office/drawing/2014/main" id="{89998784-3B08-4240-B689-5B8DAB2B4B58}"/>
              </a:ext>
            </a:extLst>
          </p:cNvPr>
          <p:cNvSpPr>
            <a:spLocks noGrp="1"/>
          </p:cNvSpPr>
          <p:nvPr/>
        </p:nvSpPr>
        <p:spPr>
          <a:xfrm>
            <a:off x="9848850" y="234315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in the 4 indicators</a:t>
            </a:r>
          </a:p>
        </p:txBody>
      </p:sp>
      <p:sp>
        <p:nvSpPr>
          <p:cNvPr id="21" name="outliers reviewed-card">
            <a:extLst>
              <a:ext uri="{FF2B5EF4-FFF2-40B4-BE49-F238E27FC236}">
                <a16:creationId xmlns:a16="http://schemas.microsoft.com/office/drawing/2014/main" id="{906EC4F0-6765-4BEC-8F58-A2240A90C6CC}"/>
              </a:ext>
            </a:extLst>
          </p:cNvPr>
          <p:cNvSpPr>
            <a:spLocks noGrp="1"/>
          </p:cNvSpPr>
          <p:nvPr/>
        </p:nvSpPr>
        <p:spPr>
          <a:xfrm>
            <a:off x="7524750" y="2876550"/>
            <a:ext cx="19240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outliers reviewed-accent">
            <a:extLst>
              <a:ext uri="{FF2B5EF4-FFF2-40B4-BE49-F238E27FC236}">
                <a16:creationId xmlns:a16="http://schemas.microsoft.com/office/drawing/2014/main" id="{BF07D86E-EA17-4714-97C7-00BF10629EDE}"/>
              </a:ext>
            </a:extLst>
          </p:cNvPr>
          <p:cNvSpPr>
            <a:spLocks noGrp="1"/>
          </p:cNvSpPr>
          <p:nvPr/>
        </p:nvSpPr>
        <p:spPr>
          <a:xfrm>
            <a:off x="7524750" y="2876550"/>
            <a:ext cx="1924050" cy="66675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outliers reviewed-value">
            <a:extLst>
              <a:ext uri="{FF2B5EF4-FFF2-40B4-BE49-F238E27FC236}">
                <a16:creationId xmlns:a16="http://schemas.microsoft.com/office/drawing/2014/main" id="{04677552-E07D-431D-88C7-B4447D67BF3E}"/>
              </a:ext>
            </a:extLst>
          </p:cNvPr>
          <p:cNvSpPr>
            <a:spLocks noGrp="1"/>
          </p:cNvSpPr>
          <p:nvPr/>
        </p:nvSpPr>
        <p:spPr>
          <a:xfrm>
            <a:off x="7696200" y="3048000"/>
            <a:ext cx="1581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4" name="outliers reviewed-label">
            <a:extLst>
              <a:ext uri="{FF2B5EF4-FFF2-40B4-BE49-F238E27FC236}">
                <a16:creationId xmlns:a16="http://schemas.microsoft.com/office/drawing/2014/main" id="{91E7C4D4-FA95-4345-8038-C4240237360D}"/>
              </a:ext>
            </a:extLst>
          </p:cNvPr>
          <p:cNvSpPr>
            <a:spLocks noGrp="1"/>
          </p:cNvSpPr>
          <p:nvPr/>
        </p:nvSpPr>
        <p:spPr>
          <a:xfrm>
            <a:off x="7696200" y="3562350"/>
            <a:ext cx="1581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outliers reviewed</a:t>
            </a:r>
          </a:p>
        </p:txBody>
      </p:sp>
      <p:sp>
        <p:nvSpPr>
          <p:cNvPr id="25" name="outliers reviewed-note">
            <a:extLst>
              <a:ext uri="{FF2B5EF4-FFF2-40B4-BE49-F238E27FC236}">
                <a16:creationId xmlns:a16="http://schemas.microsoft.com/office/drawing/2014/main" id="{C9D31E79-CAD7-4D85-B16B-B31949FED1ED}"/>
              </a:ext>
            </a:extLst>
          </p:cNvPr>
          <p:cNvSpPr>
            <a:spLocks noGrp="1"/>
          </p:cNvSpPr>
          <p:nvPr/>
        </p:nvSpPr>
        <p:spPr>
          <a:xfrm>
            <a:off x="7696200" y="38385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all documented</a:t>
            </a:r>
          </a:p>
        </p:txBody>
      </p:sp>
      <p:sp>
        <p:nvSpPr>
          <p:cNvPr id="26" name="confirmed errors-card">
            <a:extLst>
              <a:ext uri="{FF2B5EF4-FFF2-40B4-BE49-F238E27FC236}">
                <a16:creationId xmlns:a16="http://schemas.microsoft.com/office/drawing/2014/main" id="{915DD61B-6CE7-4660-B61B-209CBD64C09B}"/>
              </a:ext>
            </a:extLst>
          </p:cNvPr>
          <p:cNvSpPr>
            <a:spLocks noGrp="1"/>
          </p:cNvSpPr>
          <p:nvPr/>
        </p:nvSpPr>
        <p:spPr>
          <a:xfrm>
            <a:off x="9677400" y="2876550"/>
            <a:ext cx="1924050" cy="1285875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confirmed errors-accent">
            <a:extLst>
              <a:ext uri="{FF2B5EF4-FFF2-40B4-BE49-F238E27FC236}">
                <a16:creationId xmlns:a16="http://schemas.microsoft.com/office/drawing/2014/main" id="{49246BA9-C740-4BBE-A5D9-B51D6B6F9CBD}"/>
              </a:ext>
            </a:extLst>
          </p:cNvPr>
          <p:cNvSpPr>
            <a:spLocks noGrp="1"/>
          </p:cNvSpPr>
          <p:nvPr/>
        </p:nvSpPr>
        <p:spPr>
          <a:xfrm>
            <a:off x="9677400" y="2876550"/>
            <a:ext cx="1924050" cy="66675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confirmed errors-value">
            <a:extLst>
              <a:ext uri="{FF2B5EF4-FFF2-40B4-BE49-F238E27FC236}">
                <a16:creationId xmlns:a16="http://schemas.microsoft.com/office/drawing/2014/main" id="{6EA1C237-C395-4044-8CCB-5DADCC753308}"/>
              </a:ext>
            </a:extLst>
          </p:cNvPr>
          <p:cNvSpPr>
            <a:spLocks noGrp="1"/>
          </p:cNvSpPr>
          <p:nvPr/>
        </p:nvSpPr>
        <p:spPr>
          <a:xfrm>
            <a:off x="9848850" y="3048000"/>
            <a:ext cx="1581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confirmed errors-label">
            <a:extLst>
              <a:ext uri="{FF2B5EF4-FFF2-40B4-BE49-F238E27FC236}">
                <a16:creationId xmlns:a16="http://schemas.microsoft.com/office/drawing/2014/main" id="{A6ECB7D6-B4D7-456B-AC6E-B99D10A93905}"/>
              </a:ext>
            </a:extLst>
          </p:cNvPr>
          <p:cNvSpPr>
            <a:spLocks noGrp="1"/>
          </p:cNvSpPr>
          <p:nvPr/>
        </p:nvSpPr>
        <p:spPr>
          <a:xfrm>
            <a:off x="9848850" y="3562350"/>
            <a:ext cx="1581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confirmed errors</a:t>
            </a:r>
          </a:p>
        </p:txBody>
      </p:sp>
      <p:sp>
        <p:nvSpPr>
          <p:cNvPr id="30" name="confirmed errors-note">
            <a:extLst>
              <a:ext uri="{FF2B5EF4-FFF2-40B4-BE49-F238E27FC236}">
                <a16:creationId xmlns:a16="http://schemas.microsoft.com/office/drawing/2014/main" id="{68485291-3602-4121-B82F-BC67193B1B6D}"/>
              </a:ext>
            </a:extLst>
          </p:cNvPr>
          <p:cNvSpPr>
            <a:spLocks noGrp="1"/>
          </p:cNvSpPr>
          <p:nvPr/>
        </p:nvSpPr>
        <p:spPr>
          <a:xfrm>
            <a:off x="9848850" y="3838575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116"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plausible values retained</a:t>
            </a:r>
          </a:p>
        </p:txBody>
      </p:sp>
      <p:sp>
        <p:nvSpPr>
          <p:cNvPr id="31" name="treatment-explainer">
            <a:extLst>
              <a:ext uri="{FF2B5EF4-FFF2-40B4-BE49-F238E27FC236}">
                <a16:creationId xmlns:a16="http://schemas.microsoft.com/office/drawing/2014/main" id="{9FDF4F45-BA98-411B-AAFB-FC833BFAC46D}"/>
              </a:ext>
            </a:extLst>
          </p:cNvPr>
          <p:cNvSpPr>
            <a:spLocks noGrp="1"/>
          </p:cNvSpPr>
          <p:nvPr/>
        </p:nvSpPr>
        <p:spPr>
          <a:xfrm>
            <a:off x="7524750" y="4391025"/>
            <a:ext cx="40767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reatment-how">
            <a:extLst>
              <a:ext uri="{FF2B5EF4-FFF2-40B4-BE49-F238E27FC236}">
                <a16:creationId xmlns:a16="http://schemas.microsoft.com/office/drawing/2014/main" id="{76C214D1-24C8-4468-8B63-F57396420A1F}"/>
              </a:ext>
            </a:extLst>
          </p:cNvPr>
          <p:cNvSpPr>
            <a:spLocks noGrp="1"/>
          </p:cNvSpPr>
          <p:nvPr/>
        </p:nvSpPr>
        <p:spPr>
          <a:xfrm>
            <a:off x="7734300" y="4572000"/>
            <a:ext cx="3657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How we handled it</a:t>
            </a:r>
          </a:p>
        </p:txBody>
      </p:sp>
      <p:sp>
        <p:nvSpPr>
          <p:cNvPr id="33" name="treatment-body">
            <a:extLst>
              <a:ext uri="{FF2B5EF4-FFF2-40B4-BE49-F238E27FC236}">
                <a16:creationId xmlns:a16="http://schemas.microsoft.com/office/drawing/2014/main" id="{48CFE9B6-67A2-4778-B01B-0558346F7966}"/>
              </a:ext>
            </a:extLst>
          </p:cNvPr>
          <p:cNvSpPr>
            <a:spLocks noGrp="1"/>
          </p:cNvSpPr>
          <p:nvPr/>
        </p:nvSpPr>
        <p:spPr>
          <a:xfrm>
            <a:off x="7734300" y="4962525"/>
            <a:ext cx="36576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708"/>
          </a:bodyPr>
          <a:lstStyle/>
          <a:p>
            <a:pPr algn="l">
              <a:defRPr sz="13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Internal gaps used each country’s trend. Edge gaps used the regional year pattern adjusted to that country. Missing GDP growth was recalculated from completed GDP. Every estimate keeps its method.</a:t>
            </a:r>
          </a:p>
        </p:txBody>
      </p:sp>
    </p:spTree>
    <p:extLst>
      <p:ext uri="{BB962C8B-B14F-4D97-AF65-F5344CB8AC3E}">
        <p14:creationId xmlns:p14="http://schemas.microsoft.com/office/powerpoint/2010/main" val="138435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rule-gold">
            <a:extLst>
              <a:ext uri="{FF2B5EF4-FFF2-40B4-BE49-F238E27FC236}">
                <a16:creationId xmlns:a16="http://schemas.microsoft.com/office/drawing/2014/main" id="{1631D026-F87A-4E6A-A3ED-C76AF0622A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ADC3A435-3A7F-48EF-A209-DF16E7DA3A7C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5A923DD8-5184-4CE0-A09B-986DBD4D1A3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2DBFD1AE-C710-4869-9E27-CC4F7C527116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EXPECTATION 4 · EXPLORATORY AND STATISTICAL ANALYSIS</a:t>
            </a:r>
            <a:r>
              <a:rPr lang="en-US" sz="24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- TECHNIQUES USED.</a:t>
            </a:r>
            <a:endParaRPr sz="2400" b="1" dirty="0">
              <a:solidFill>
                <a:srgbClr val="E52D2C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1567B46D-4EF6-4A3F-9067-FD813D382DFF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F08FBCBC-E337-47CC-A066-908DE717442B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01-Trend analysis-card">
            <a:extLst>
              <a:ext uri="{FF2B5EF4-FFF2-40B4-BE49-F238E27FC236}">
                <a16:creationId xmlns:a16="http://schemas.microsoft.com/office/drawing/2014/main" id="{24717FC2-4AA8-4759-8CE3-07FB1EE51BD8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3390900" cy="2714625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01-Trend analysis-number">
            <a:extLst>
              <a:ext uri="{FF2B5EF4-FFF2-40B4-BE49-F238E27FC236}">
                <a16:creationId xmlns:a16="http://schemas.microsoft.com/office/drawing/2014/main" id="{A0955E1D-2EEA-41DD-9D79-D828832F802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66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C796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796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01-Trend analysis-title">
            <a:extLst>
              <a:ext uri="{FF2B5EF4-FFF2-40B4-BE49-F238E27FC236}">
                <a16:creationId xmlns:a16="http://schemas.microsoft.com/office/drawing/2014/main" id="{4FF19049-BEAE-4CA8-8023-EF5508617121}"/>
              </a:ext>
            </a:extLst>
          </p:cNvPr>
          <p:cNvSpPr>
            <a:spLocks noGrp="1"/>
          </p:cNvSpPr>
          <p:nvPr/>
        </p:nvSpPr>
        <p:spPr>
          <a:xfrm>
            <a:off x="1428750" y="1571625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Trend analysis</a:t>
            </a:r>
          </a:p>
        </p:txBody>
      </p:sp>
      <p:sp>
        <p:nvSpPr>
          <p:cNvPr id="12" name="01-Trend analysis-body">
            <a:extLst>
              <a:ext uri="{FF2B5EF4-FFF2-40B4-BE49-F238E27FC236}">
                <a16:creationId xmlns:a16="http://schemas.microsoft.com/office/drawing/2014/main" id="{C2F9726C-72D5-4755-A898-95E802601A2B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3048000" cy="184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We measured changes through time and compared the start and end of the study period.</a:t>
            </a:r>
          </a:p>
        </p:txBody>
      </p:sp>
      <p:sp>
        <p:nvSpPr>
          <p:cNvPr id="13" name="02-Correlation-card">
            <a:extLst>
              <a:ext uri="{FF2B5EF4-FFF2-40B4-BE49-F238E27FC236}">
                <a16:creationId xmlns:a16="http://schemas.microsoft.com/office/drawing/2014/main" id="{41840B61-7489-46C3-9E8D-68C01C6E282E}"/>
              </a:ext>
            </a:extLst>
          </p:cNvPr>
          <p:cNvSpPr>
            <a:spLocks noGrp="1"/>
          </p:cNvSpPr>
          <p:nvPr/>
        </p:nvSpPr>
        <p:spPr>
          <a:xfrm>
            <a:off x="4400550" y="1428750"/>
            <a:ext cx="3390900" cy="2714625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02-Correlation-number">
            <a:extLst>
              <a:ext uri="{FF2B5EF4-FFF2-40B4-BE49-F238E27FC236}">
                <a16:creationId xmlns:a16="http://schemas.microsoft.com/office/drawing/2014/main" id="{FF865063-9805-42FE-8857-6F914A0AAD75}"/>
              </a:ext>
            </a:extLst>
          </p:cNvPr>
          <p:cNvSpPr>
            <a:spLocks noGrp="1"/>
          </p:cNvSpPr>
          <p:nvPr/>
        </p:nvSpPr>
        <p:spPr>
          <a:xfrm>
            <a:off x="4572000" y="1581150"/>
            <a:ext cx="66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02-Correlation-title">
            <a:extLst>
              <a:ext uri="{FF2B5EF4-FFF2-40B4-BE49-F238E27FC236}">
                <a16:creationId xmlns:a16="http://schemas.microsoft.com/office/drawing/2014/main" id="{A2CBCA52-01F8-4A54-9598-B3453DCFFFB1}"/>
              </a:ext>
            </a:extLst>
          </p:cNvPr>
          <p:cNvSpPr>
            <a:spLocks noGrp="1"/>
          </p:cNvSpPr>
          <p:nvPr/>
        </p:nvSpPr>
        <p:spPr>
          <a:xfrm>
            <a:off x="5238750" y="1571625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Correlation</a:t>
            </a:r>
          </a:p>
        </p:txBody>
      </p:sp>
      <p:sp>
        <p:nvSpPr>
          <p:cNvPr id="16" name="02-Correlation-body">
            <a:extLst>
              <a:ext uri="{FF2B5EF4-FFF2-40B4-BE49-F238E27FC236}">
                <a16:creationId xmlns:a16="http://schemas.microsoft.com/office/drawing/2014/main" id="{1295B5CE-B2CC-4BE5-A3C2-D733EFDB6F9E}"/>
              </a:ext>
            </a:extLst>
          </p:cNvPr>
          <p:cNvSpPr>
            <a:spLocks noGrp="1"/>
          </p:cNvSpPr>
          <p:nvPr/>
        </p:nvSpPr>
        <p:spPr>
          <a:xfrm>
            <a:off x="4572000" y="2171700"/>
            <a:ext cx="3048000" cy="184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Pearson and Spearman tests showed the strength of the link between income and life expectancy.</a:t>
            </a:r>
          </a:p>
        </p:txBody>
      </p:sp>
      <p:sp>
        <p:nvSpPr>
          <p:cNvPr id="17" name="03-Regression-card">
            <a:extLst>
              <a:ext uri="{FF2B5EF4-FFF2-40B4-BE49-F238E27FC236}">
                <a16:creationId xmlns:a16="http://schemas.microsoft.com/office/drawing/2014/main" id="{5BCAE9F8-902E-4F2E-A51C-074E150FE63A}"/>
              </a:ext>
            </a:extLst>
          </p:cNvPr>
          <p:cNvSpPr>
            <a:spLocks noGrp="1"/>
          </p:cNvSpPr>
          <p:nvPr/>
        </p:nvSpPr>
        <p:spPr>
          <a:xfrm>
            <a:off x="8210550" y="1428750"/>
            <a:ext cx="3390900" cy="2714625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03-Regression-number">
            <a:extLst>
              <a:ext uri="{FF2B5EF4-FFF2-40B4-BE49-F238E27FC236}">
                <a16:creationId xmlns:a16="http://schemas.microsoft.com/office/drawing/2014/main" id="{9115C0EC-764F-4937-8036-826382DDAA76}"/>
              </a:ext>
            </a:extLst>
          </p:cNvPr>
          <p:cNvSpPr>
            <a:spLocks noGrp="1"/>
          </p:cNvSpPr>
          <p:nvPr/>
        </p:nvSpPr>
        <p:spPr>
          <a:xfrm>
            <a:off x="8382000" y="1581150"/>
            <a:ext cx="666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03-Regression-title">
            <a:extLst>
              <a:ext uri="{FF2B5EF4-FFF2-40B4-BE49-F238E27FC236}">
                <a16:creationId xmlns:a16="http://schemas.microsoft.com/office/drawing/2014/main" id="{7AFFA70F-C42E-4AFE-AE3D-E57AB0B81E36}"/>
              </a:ext>
            </a:extLst>
          </p:cNvPr>
          <p:cNvSpPr>
            <a:spLocks noGrp="1"/>
          </p:cNvSpPr>
          <p:nvPr/>
        </p:nvSpPr>
        <p:spPr>
          <a:xfrm>
            <a:off x="9048750" y="1571625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Regression</a:t>
            </a:r>
          </a:p>
        </p:txBody>
      </p:sp>
      <p:sp>
        <p:nvSpPr>
          <p:cNvPr id="20" name="03-Regression-body">
            <a:extLst>
              <a:ext uri="{FF2B5EF4-FFF2-40B4-BE49-F238E27FC236}">
                <a16:creationId xmlns:a16="http://schemas.microsoft.com/office/drawing/2014/main" id="{30B695E9-7286-4511-9CB6-080798943A00}"/>
              </a:ext>
            </a:extLst>
          </p:cNvPr>
          <p:cNvSpPr>
            <a:spLocks noGrp="1"/>
          </p:cNvSpPr>
          <p:nvPr/>
        </p:nvSpPr>
        <p:spPr>
          <a:xfrm>
            <a:off x="8382000" y="2171700"/>
            <a:ext cx="3048000" cy="1847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A model controlled for country differences and the passage of time, using robust standard errors.</a:t>
            </a:r>
          </a:p>
        </p:txBody>
      </p:sp>
      <p:sp>
        <p:nvSpPr>
          <p:cNvPr id="21" name="stats-result-bar">
            <a:extLst>
              <a:ext uri="{FF2B5EF4-FFF2-40B4-BE49-F238E27FC236}">
                <a16:creationId xmlns:a16="http://schemas.microsoft.com/office/drawing/2014/main" id="{9F196DEF-1E85-41F7-A0DC-F52DFA1233B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1010900" cy="1333500"/>
          </a:xfrm>
          <a:prstGeom prst="roundRect">
            <a:avLst>
              <a:gd name="adj" fmla="val 5714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stats-result-label">
            <a:extLst>
              <a:ext uri="{FF2B5EF4-FFF2-40B4-BE49-F238E27FC236}">
                <a16:creationId xmlns:a16="http://schemas.microsoft.com/office/drawing/2014/main" id="{2FDB487A-2A00-4D80-B165-D631708E2BAE}"/>
              </a:ext>
            </a:extLst>
          </p:cNvPr>
          <p:cNvSpPr>
            <a:spLocks noGrp="1"/>
          </p:cNvSpPr>
          <p:nvPr/>
        </p:nvSpPr>
        <p:spPr>
          <a:xfrm>
            <a:off x="800100" y="46863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The useful lesson</a:t>
            </a:r>
          </a:p>
        </p:txBody>
      </p:sp>
      <p:sp>
        <p:nvSpPr>
          <p:cNvPr id="23" name="stats-result-text">
            <a:extLst>
              <a:ext uri="{FF2B5EF4-FFF2-40B4-BE49-F238E27FC236}">
                <a16:creationId xmlns:a16="http://schemas.microsoft.com/office/drawing/2014/main" id="{CBAD6A65-221B-4F62-BDB5-318DA79CFB77}"/>
              </a:ext>
            </a:extLst>
          </p:cNvPr>
          <p:cNvSpPr>
            <a:spLocks noGrp="1"/>
          </p:cNvSpPr>
          <p:nvPr/>
        </p:nvSpPr>
        <p:spPr>
          <a:xfrm>
            <a:off x="800100" y="5038725"/>
            <a:ext cx="7096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9020" lnSpcReduction="20000"/>
          </a:bodyPr>
          <a:lstStyle/>
          <a:p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GDP–life result changes when estimates and controls are handled differently.</a:t>
            </a:r>
          </a:p>
        </p:txBody>
      </p:sp>
      <p:sp>
        <p:nvSpPr>
          <p:cNvPr id="24" name="pooled-stat">
            <a:extLst>
              <a:ext uri="{FF2B5EF4-FFF2-40B4-BE49-F238E27FC236}">
                <a16:creationId xmlns:a16="http://schemas.microsoft.com/office/drawing/2014/main" id="{0EFDB8E8-5587-4E76-9CB1-495A2B60F57B}"/>
              </a:ext>
            </a:extLst>
          </p:cNvPr>
          <p:cNvSpPr>
            <a:spLocks noGrp="1"/>
          </p:cNvSpPr>
          <p:nvPr/>
        </p:nvSpPr>
        <p:spPr>
          <a:xfrm>
            <a:off x="8096250" y="4686300"/>
            <a:ext cx="1571625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Completed panel</a:t>
            </a:r>
          </a:p>
          <a:p>
            <a:pPr algn="ctr">
              <a:defRPr sz="1500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r = 0.109 · p = 0.238</a:t>
            </a:r>
          </a:p>
        </p:txBody>
      </p:sp>
      <p:sp>
        <p:nvSpPr>
          <p:cNvPr id="25" name="controlled-stat">
            <a:extLst>
              <a:ext uri="{FF2B5EF4-FFF2-40B4-BE49-F238E27FC236}">
                <a16:creationId xmlns:a16="http://schemas.microsoft.com/office/drawing/2014/main" id="{F0885FB5-367C-4077-92D1-3DE9CB243339}"/>
              </a:ext>
            </a:extLst>
          </p:cNvPr>
          <p:cNvSpPr>
            <a:spLocks noGrp="1"/>
          </p:cNvSpPr>
          <p:nvPr/>
        </p:nvSpPr>
        <p:spPr>
          <a:xfrm>
            <a:off x="9753600" y="4686300"/>
            <a:ext cx="17526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Controlled GDP p</a:t>
            </a:r>
          </a:p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0.002 complete · 0.098 reported</a:t>
            </a:r>
          </a:p>
        </p:txBody>
      </p:sp>
    </p:spTree>
    <p:extLst>
      <p:ext uri="{BB962C8B-B14F-4D97-AF65-F5344CB8AC3E}">
        <p14:creationId xmlns:p14="http://schemas.microsoft.com/office/powerpoint/2010/main" val="24673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op-rule-gold">
            <a:extLst>
              <a:ext uri="{FF2B5EF4-FFF2-40B4-BE49-F238E27FC236}">
                <a16:creationId xmlns:a16="http://schemas.microsoft.com/office/drawing/2014/main" id="{28926514-47DB-47B4-93C3-DB7346E5C7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F7163ECF-A852-484E-BB8D-AFF66E2305DB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7EC873BF-DC48-4218-95CC-BF6CAFB529C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C9F805EA-35E6-4CAD-991F-B7C9F3B3EC3C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28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EXPECTATION 5 ·</a:t>
            </a:r>
            <a:r>
              <a:rPr lang="en-US" sz="28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DATA</a:t>
            </a:r>
            <a:r>
              <a:rPr sz="28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VISUALISATION</a:t>
            </a:r>
            <a:r>
              <a:rPr lang="en-US" sz="28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TOOLS</a:t>
            </a:r>
            <a:r>
              <a:rPr sz="2800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E5631F79-A950-4AF2-9C1D-1148859CF0C4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endParaRPr sz="3600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2A354F20-9958-48C9-8792-0FB399B8722E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10E406F2-B63C-47E8-85E0-BACC481907C3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viz-card-0">
            <a:extLst>
              <a:ext uri="{FF2B5EF4-FFF2-40B4-BE49-F238E27FC236}">
                <a16:creationId xmlns:a16="http://schemas.microsoft.com/office/drawing/2014/main" id="{8D324F09-E69F-4AA5-AE22-5B5879D48FB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viz-accent-0">
            <a:extLst>
              <a:ext uri="{FF2B5EF4-FFF2-40B4-BE49-F238E27FC236}">
                <a16:creationId xmlns:a16="http://schemas.microsoft.com/office/drawing/2014/main" id="{A3169F0A-0FA7-48F5-AA92-DDDDC0624FB3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4300" cy="112395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viz-title-0">
            <a:extLst>
              <a:ext uri="{FF2B5EF4-FFF2-40B4-BE49-F238E27FC236}">
                <a16:creationId xmlns:a16="http://schemas.microsoft.com/office/drawing/2014/main" id="{E883F42C-B69A-4A61-91C7-FC2C7675C46A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Line chart</a:t>
            </a:r>
          </a:p>
        </p:txBody>
      </p:sp>
      <p:sp>
        <p:nvSpPr>
          <p:cNvPr id="12" name="viz-body-0">
            <a:extLst>
              <a:ext uri="{FF2B5EF4-FFF2-40B4-BE49-F238E27FC236}">
                <a16:creationId xmlns:a16="http://schemas.microsoft.com/office/drawing/2014/main" id="{503C9471-44B3-4A0B-9633-D572C2A5849C}"/>
              </a:ext>
            </a:extLst>
          </p:cNvPr>
          <p:cNvSpPr>
            <a:spLocks noGrp="1"/>
          </p:cNvSpPr>
          <p:nvPr/>
        </p:nvSpPr>
        <p:spPr>
          <a:xfrm>
            <a:off x="3067050" y="1504950"/>
            <a:ext cx="2495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Shows year-by-year direction and turning points.</a:t>
            </a:r>
          </a:p>
        </p:txBody>
      </p:sp>
      <p:sp>
        <p:nvSpPr>
          <p:cNvPr id="13" name="viz-card-1">
            <a:extLst>
              <a:ext uri="{FF2B5EF4-FFF2-40B4-BE49-F238E27FC236}">
                <a16:creationId xmlns:a16="http://schemas.microsoft.com/office/drawing/2014/main" id="{5901B49C-6853-4D22-8F88-409BA326A456}"/>
              </a:ext>
            </a:extLst>
          </p:cNvPr>
          <p:cNvSpPr>
            <a:spLocks noGrp="1"/>
          </p:cNvSpPr>
          <p:nvPr/>
        </p:nvSpPr>
        <p:spPr>
          <a:xfrm>
            <a:off x="6162675" y="135255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viz-accent-1">
            <a:extLst>
              <a:ext uri="{FF2B5EF4-FFF2-40B4-BE49-F238E27FC236}">
                <a16:creationId xmlns:a16="http://schemas.microsoft.com/office/drawing/2014/main" id="{D1D76A2F-8EBF-46A9-AB9D-F24650FF5606}"/>
              </a:ext>
            </a:extLst>
          </p:cNvPr>
          <p:cNvSpPr>
            <a:spLocks noGrp="1"/>
          </p:cNvSpPr>
          <p:nvPr/>
        </p:nvSpPr>
        <p:spPr>
          <a:xfrm>
            <a:off x="6162675" y="1352550"/>
            <a:ext cx="114300" cy="112395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viz-title-1">
            <a:extLst>
              <a:ext uri="{FF2B5EF4-FFF2-40B4-BE49-F238E27FC236}">
                <a16:creationId xmlns:a16="http://schemas.microsoft.com/office/drawing/2014/main" id="{B0F89EBD-1C4B-4A38-A00F-84E62B4D3586}"/>
              </a:ext>
            </a:extLst>
          </p:cNvPr>
          <p:cNvSpPr>
            <a:spLocks noGrp="1"/>
          </p:cNvSpPr>
          <p:nvPr/>
        </p:nvSpPr>
        <p:spPr>
          <a:xfrm>
            <a:off x="6429375" y="15240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Ranked bar chart</a:t>
            </a:r>
          </a:p>
        </p:txBody>
      </p:sp>
      <p:sp>
        <p:nvSpPr>
          <p:cNvPr id="16" name="viz-body-1">
            <a:extLst>
              <a:ext uri="{FF2B5EF4-FFF2-40B4-BE49-F238E27FC236}">
                <a16:creationId xmlns:a16="http://schemas.microsoft.com/office/drawing/2014/main" id="{C5159807-D1A2-491D-8789-0AFCBAD9A8EE}"/>
              </a:ext>
            </a:extLst>
          </p:cNvPr>
          <p:cNvSpPr>
            <a:spLocks noGrp="1"/>
          </p:cNvSpPr>
          <p:nvPr/>
        </p:nvSpPr>
        <p:spPr>
          <a:xfrm>
            <a:off x="8639175" y="1504950"/>
            <a:ext cx="2495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Makes the highest and lowest change easy to spot.</a:t>
            </a:r>
          </a:p>
        </p:txBody>
      </p:sp>
      <p:sp>
        <p:nvSpPr>
          <p:cNvPr id="17" name="viz-card-2">
            <a:extLst>
              <a:ext uri="{FF2B5EF4-FFF2-40B4-BE49-F238E27FC236}">
                <a16:creationId xmlns:a16="http://schemas.microsoft.com/office/drawing/2014/main" id="{6399876E-A22E-454E-8F29-86CE701A865F}"/>
              </a:ext>
            </a:extLst>
          </p:cNvPr>
          <p:cNvSpPr>
            <a:spLocks noGrp="1"/>
          </p:cNvSpPr>
          <p:nvPr/>
        </p:nvSpPr>
        <p:spPr>
          <a:xfrm>
            <a:off x="590550" y="270510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viz-accent-2">
            <a:extLst>
              <a:ext uri="{FF2B5EF4-FFF2-40B4-BE49-F238E27FC236}">
                <a16:creationId xmlns:a16="http://schemas.microsoft.com/office/drawing/2014/main" id="{31AAD022-8BE6-4A43-8D95-952B60A034C1}"/>
              </a:ext>
            </a:extLst>
          </p:cNvPr>
          <p:cNvSpPr>
            <a:spLocks noGrp="1"/>
          </p:cNvSpPr>
          <p:nvPr/>
        </p:nvSpPr>
        <p:spPr>
          <a:xfrm>
            <a:off x="590550" y="2705100"/>
            <a:ext cx="114300" cy="112395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viz-title-2">
            <a:extLst>
              <a:ext uri="{FF2B5EF4-FFF2-40B4-BE49-F238E27FC236}">
                <a16:creationId xmlns:a16="http://schemas.microsoft.com/office/drawing/2014/main" id="{CEE956AD-CFAF-41A3-8726-354F7DC54613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267"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Indexed line chart</a:t>
            </a:r>
          </a:p>
        </p:txBody>
      </p:sp>
      <p:sp>
        <p:nvSpPr>
          <p:cNvPr id="20" name="viz-body-2">
            <a:extLst>
              <a:ext uri="{FF2B5EF4-FFF2-40B4-BE49-F238E27FC236}">
                <a16:creationId xmlns:a16="http://schemas.microsoft.com/office/drawing/2014/main" id="{125800F8-A8B9-4D7B-955B-8D97E57E8713}"/>
              </a:ext>
            </a:extLst>
          </p:cNvPr>
          <p:cNvSpPr>
            <a:spLocks noGrp="1"/>
          </p:cNvSpPr>
          <p:nvPr/>
        </p:nvSpPr>
        <p:spPr>
          <a:xfrm>
            <a:off x="3067050" y="2857500"/>
            <a:ext cx="2495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Compares indicators with different units from a common starting point.</a:t>
            </a:r>
          </a:p>
        </p:txBody>
      </p:sp>
      <p:sp>
        <p:nvSpPr>
          <p:cNvPr id="21" name="viz-card-3">
            <a:extLst>
              <a:ext uri="{FF2B5EF4-FFF2-40B4-BE49-F238E27FC236}">
                <a16:creationId xmlns:a16="http://schemas.microsoft.com/office/drawing/2014/main" id="{7DEB0E83-2A42-4C66-9A79-E33332C04889}"/>
              </a:ext>
            </a:extLst>
          </p:cNvPr>
          <p:cNvSpPr>
            <a:spLocks noGrp="1"/>
          </p:cNvSpPr>
          <p:nvPr/>
        </p:nvSpPr>
        <p:spPr>
          <a:xfrm>
            <a:off x="6162675" y="270510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viz-accent-3">
            <a:extLst>
              <a:ext uri="{FF2B5EF4-FFF2-40B4-BE49-F238E27FC236}">
                <a16:creationId xmlns:a16="http://schemas.microsoft.com/office/drawing/2014/main" id="{3F09A94F-894D-4792-A00E-29BFE197D541}"/>
              </a:ext>
            </a:extLst>
          </p:cNvPr>
          <p:cNvSpPr>
            <a:spLocks noGrp="1"/>
          </p:cNvSpPr>
          <p:nvPr/>
        </p:nvSpPr>
        <p:spPr>
          <a:xfrm>
            <a:off x="6162675" y="2705100"/>
            <a:ext cx="114300" cy="112395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viz-title-3">
            <a:extLst>
              <a:ext uri="{FF2B5EF4-FFF2-40B4-BE49-F238E27FC236}">
                <a16:creationId xmlns:a16="http://schemas.microsoft.com/office/drawing/2014/main" id="{3AC7CAB6-60BA-46DC-8C53-927789E13487}"/>
              </a:ext>
            </a:extLst>
          </p:cNvPr>
          <p:cNvSpPr>
            <a:spLocks noGrp="1"/>
          </p:cNvSpPr>
          <p:nvPr/>
        </p:nvSpPr>
        <p:spPr>
          <a:xfrm>
            <a:off x="6429375" y="287655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256"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Scatter + trend line</a:t>
            </a:r>
          </a:p>
        </p:txBody>
      </p:sp>
      <p:sp>
        <p:nvSpPr>
          <p:cNvPr id="24" name="viz-body-3">
            <a:extLst>
              <a:ext uri="{FF2B5EF4-FFF2-40B4-BE49-F238E27FC236}">
                <a16:creationId xmlns:a16="http://schemas.microsoft.com/office/drawing/2014/main" id="{F2115CFA-C9A7-4E14-A89F-2E32F0CA62A5}"/>
              </a:ext>
            </a:extLst>
          </p:cNvPr>
          <p:cNvSpPr>
            <a:spLocks noGrp="1"/>
          </p:cNvSpPr>
          <p:nvPr/>
        </p:nvSpPr>
        <p:spPr>
          <a:xfrm>
            <a:off x="8639175" y="2857500"/>
            <a:ext cx="2495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Shows the relationship, spread, and unusual cases.</a:t>
            </a:r>
          </a:p>
        </p:txBody>
      </p:sp>
      <p:sp>
        <p:nvSpPr>
          <p:cNvPr id="25" name="viz-card-4">
            <a:extLst>
              <a:ext uri="{FF2B5EF4-FFF2-40B4-BE49-F238E27FC236}">
                <a16:creationId xmlns:a16="http://schemas.microsoft.com/office/drawing/2014/main" id="{D936EEC5-A6D5-440D-B993-9A32E9DCC302}"/>
              </a:ext>
            </a:extLst>
          </p:cNvPr>
          <p:cNvSpPr>
            <a:spLocks noGrp="1"/>
          </p:cNvSpPr>
          <p:nvPr/>
        </p:nvSpPr>
        <p:spPr>
          <a:xfrm>
            <a:off x="590550" y="405765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viz-accent-4">
            <a:extLst>
              <a:ext uri="{FF2B5EF4-FFF2-40B4-BE49-F238E27FC236}">
                <a16:creationId xmlns:a16="http://schemas.microsoft.com/office/drawing/2014/main" id="{8A49C080-D0CF-48B7-A27B-5E94562BAF69}"/>
              </a:ext>
            </a:extLst>
          </p:cNvPr>
          <p:cNvSpPr>
            <a:spLocks noGrp="1"/>
          </p:cNvSpPr>
          <p:nvPr/>
        </p:nvSpPr>
        <p:spPr>
          <a:xfrm>
            <a:off x="590550" y="4057650"/>
            <a:ext cx="114300" cy="112395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viz-title-4">
            <a:extLst>
              <a:ext uri="{FF2B5EF4-FFF2-40B4-BE49-F238E27FC236}">
                <a16:creationId xmlns:a16="http://schemas.microsoft.com/office/drawing/2014/main" id="{F61A5407-6225-42CD-B8E3-18EF621B4101}"/>
              </a:ext>
            </a:extLst>
          </p:cNvPr>
          <p:cNvSpPr>
            <a:spLocks noGrp="1"/>
          </p:cNvSpPr>
          <p:nvPr/>
        </p:nvSpPr>
        <p:spPr>
          <a:xfrm>
            <a:off x="857250" y="42291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Heatmap</a:t>
            </a:r>
          </a:p>
        </p:txBody>
      </p:sp>
      <p:sp>
        <p:nvSpPr>
          <p:cNvPr id="28" name="viz-body-4">
            <a:extLst>
              <a:ext uri="{FF2B5EF4-FFF2-40B4-BE49-F238E27FC236}">
                <a16:creationId xmlns:a16="http://schemas.microsoft.com/office/drawing/2014/main" id="{0C5B31A2-718D-4445-AF36-AD1F10014E35}"/>
              </a:ext>
            </a:extLst>
          </p:cNvPr>
          <p:cNvSpPr>
            <a:spLocks noGrp="1"/>
          </p:cNvSpPr>
          <p:nvPr/>
        </p:nvSpPr>
        <p:spPr>
          <a:xfrm>
            <a:off x="3067050" y="4210050"/>
            <a:ext cx="2495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Compares several indicators and countries in one compact view.</a:t>
            </a:r>
          </a:p>
        </p:txBody>
      </p:sp>
      <p:sp>
        <p:nvSpPr>
          <p:cNvPr id="29" name="viz-card-5">
            <a:extLst>
              <a:ext uri="{FF2B5EF4-FFF2-40B4-BE49-F238E27FC236}">
                <a16:creationId xmlns:a16="http://schemas.microsoft.com/office/drawing/2014/main" id="{00788FDF-0C49-4BDF-AC1C-99174AA732FE}"/>
              </a:ext>
            </a:extLst>
          </p:cNvPr>
          <p:cNvSpPr>
            <a:spLocks noGrp="1"/>
          </p:cNvSpPr>
          <p:nvPr/>
        </p:nvSpPr>
        <p:spPr>
          <a:xfrm>
            <a:off x="6162675" y="4057650"/>
            <a:ext cx="52197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viz-accent-5">
            <a:extLst>
              <a:ext uri="{FF2B5EF4-FFF2-40B4-BE49-F238E27FC236}">
                <a16:creationId xmlns:a16="http://schemas.microsoft.com/office/drawing/2014/main" id="{9983E689-D172-456E-AF43-42D410D0EBC4}"/>
              </a:ext>
            </a:extLst>
          </p:cNvPr>
          <p:cNvSpPr>
            <a:spLocks noGrp="1"/>
          </p:cNvSpPr>
          <p:nvPr/>
        </p:nvSpPr>
        <p:spPr>
          <a:xfrm>
            <a:off x="6162675" y="4057650"/>
            <a:ext cx="114300" cy="112395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viz-title-5">
            <a:extLst>
              <a:ext uri="{FF2B5EF4-FFF2-40B4-BE49-F238E27FC236}">
                <a16:creationId xmlns:a16="http://schemas.microsoft.com/office/drawing/2014/main" id="{87F13F93-61C6-4C76-910E-0C397F15FEDA}"/>
              </a:ext>
            </a:extLst>
          </p:cNvPr>
          <p:cNvSpPr>
            <a:spLocks noGrp="1"/>
          </p:cNvSpPr>
          <p:nvPr/>
        </p:nvSpPr>
        <p:spPr>
          <a:xfrm>
            <a:off x="6429375" y="4229100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Geographic map</a:t>
            </a:r>
          </a:p>
        </p:txBody>
      </p:sp>
      <p:sp>
        <p:nvSpPr>
          <p:cNvPr id="32" name="viz-body-5">
            <a:extLst>
              <a:ext uri="{FF2B5EF4-FFF2-40B4-BE49-F238E27FC236}">
                <a16:creationId xmlns:a16="http://schemas.microsoft.com/office/drawing/2014/main" id="{306FC5C1-4358-4CE9-B90A-D077E2A49282}"/>
              </a:ext>
            </a:extLst>
          </p:cNvPr>
          <p:cNvSpPr>
            <a:spLocks noGrp="1"/>
          </p:cNvSpPr>
          <p:nvPr/>
        </p:nvSpPr>
        <p:spPr>
          <a:xfrm>
            <a:off x="8639175" y="4210050"/>
            <a:ext cx="2495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Shows where outcomes differ across the region.</a:t>
            </a:r>
          </a:p>
        </p:txBody>
      </p:sp>
      <p:sp>
        <p:nvSpPr>
          <p:cNvPr id="33" name="viz-practice-bar">
            <a:extLst>
              <a:ext uri="{FF2B5EF4-FFF2-40B4-BE49-F238E27FC236}">
                <a16:creationId xmlns:a16="http://schemas.microsoft.com/office/drawing/2014/main" id="{D7CD6307-5679-41F2-B8BF-F367916F3CC6}"/>
              </a:ext>
            </a:extLst>
          </p:cNvPr>
          <p:cNvSpPr>
            <a:spLocks noGrp="1"/>
          </p:cNvSpPr>
          <p:nvPr/>
        </p:nvSpPr>
        <p:spPr>
          <a:xfrm>
            <a:off x="590550" y="5524500"/>
            <a:ext cx="10791825" cy="542925"/>
          </a:xfrm>
          <a:prstGeom prst="roundRect">
            <a:avLst>
              <a:gd name="adj" fmla="val 14035"/>
            </a:avLst>
          </a:prstGeom>
          <a:solidFill>
            <a:srgbClr val="EEF0FA"/>
          </a:solidFill>
          <a:ln w="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viz-practices">
            <a:extLst>
              <a:ext uri="{FF2B5EF4-FFF2-40B4-BE49-F238E27FC236}">
                <a16:creationId xmlns:a16="http://schemas.microsoft.com/office/drawing/2014/main" id="{3BAE78AD-064A-4419-8FCE-08497838CD93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4108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422"/>
          </a:bodyPr>
          <a:lstStyle/>
          <a:p>
            <a:pPr algn="ctr">
              <a:defRPr sz="15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Best practices: clear units · sorted comparisons · consistent country colors · readable labels</a:t>
            </a:r>
          </a:p>
        </p:txBody>
      </p:sp>
    </p:spTree>
    <p:extLst>
      <p:ext uri="{BB962C8B-B14F-4D97-AF65-F5344CB8AC3E}">
        <p14:creationId xmlns:p14="http://schemas.microsoft.com/office/powerpoint/2010/main" val="179956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rule-gold">
            <a:extLst>
              <a:ext uri="{FF2B5EF4-FFF2-40B4-BE49-F238E27FC236}">
                <a16:creationId xmlns:a16="http://schemas.microsoft.com/office/drawing/2014/main" id="{E8278F09-BBFC-4846-9E04-9482C6D70A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6FACE977-1840-4AF0-97E1-651DF460EF9F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97AAF46D-E068-47A7-93A0-4A1BABEE59AE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40CC283F-15A1-483D-B5B5-6635A44F217B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RESEARCH QUESTION 1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7B63EC29-6E0B-4A32-B76F-524C1A1AED05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7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lang="en-US" sz="33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Real </a:t>
            </a:r>
            <a:r>
              <a:rPr sz="33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GDP-per-</a:t>
            </a:r>
            <a:r>
              <a:rPr lang="en-US" sz="33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capita</a:t>
            </a:r>
            <a:r>
              <a:rPr sz="33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33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G</a:t>
            </a:r>
            <a:r>
              <a:rPr sz="33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rowth</a:t>
            </a:r>
            <a:r>
              <a:rPr lang="en-US" sz="33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Ranking</a:t>
            </a:r>
            <a:endParaRPr sz="3375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8AE2F7C8-232D-4EF1-B26C-D4D3570D129D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0D79B6AE-F262-46E6-A46A-E87764BBE174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answer-Answer: Rwanda incre">
            <a:extLst>
              <a:ext uri="{FF2B5EF4-FFF2-40B4-BE49-F238E27FC236}">
                <a16:creationId xmlns:a16="http://schemas.microsoft.com/office/drawing/2014/main" id="{65FD39E7-241D-4620-B64D-4043B7F17997}"/>
              </a:ext>
            </a:extLst>
          </p:cNvPr>
          <p:cNvSpPr>
            <a:spLocks noGrp="1"/>
          </p:cNvSpPr>
          <p:nvPr/>
        </p:nvSpPr>
        <p:spPr>
          <a:xfrm>
            <a:off x="590550" y="1228725"/>
            <a:ext cx="11049000" cy="552450"/>
          </a:xfrm>
          <a:prstGeom prst="roundRect">
            <a:avLst>
              <a:gd name="adj" fmla="val 13793"/>
            </a:avLst>
          </a:prstGeom>
          <a:solidFill>
            <a:srgbClr val="EEF0FA"/>
          </a:solidFill>
          <a:ln w="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answer-text-Answer: Rwanda incre">
            <a:extLst>
              <a:ext uri="{FF2B5EF4-FFF2-40B4-BE49-F238E27FC236}">
                <a16:creationId xmlns:a16="http://schemas.microsoft.com/office/drawing/2014/main" id="{85EA8D04-86BC-4EF4-8F54-C0E2CAF4932F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10706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Answer: Rwanda increased by 80.0% between 2010 and 2024.</a:t>
            </a:r>
          </a:p>
        </p:txBody>
      </p:sp>
      <p:sp>
        <p:nvSpPr>
          <p:cNvPr id="11" name="gdp-rank-frame">
            <a:extLst>
              <a:ext uri="{FF2B5EF4-FFF2-40B4-BE49-F238E27FC236}">
                <a16:creationId xmlns:a16="http://schemas.microsoft.com/office/drawing/2014/main" id="{9BDAF35D-FD55-4B4E-AA5D-F3414BC30360}"/>
              </a:ext>
            </a:extLst>
          </p:cNvPr>
          <p:cNvSpPr>
            <a:spLocks noGrp="1"/>
          </p:cNvSpPr>
          <p:nvPr/>
        </p:nvSpPr>
        <p:spPr>
          <a:xfrm>
            <a:off x="590550" y="1981200"/>
            <a:ext cx="752475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38304" y="2095500"/>
            <a:ext cx="6429241" cy="3810000"/>
          </a:xfrm>
          <a:prstGeom prst="rect">
            <a:avLst/>
          </a:prstGeom>
        </p:spPr>
      </p:pic>
      <p:sp>
        <p:nvSpPr>
          <p:cNvPr id="13" name="Rwanda-card">
            <a:extLst>
              <a:ext uri="{FF2B5EF4-FFF2-40B4-BE49-F238E27FC236}">
                <a16:creationId xmlns:a16="http://schemas.microsoft.com/office/drawing/2014/main" id="{C71A2D26-FFE4-4A85-A683-03B6AC5ED447}"/>
              </a:ext>
            </a:extLst>
          </p:cNvPr>
          <p:cNvSpPr>
            <a:spLocks noGrp="1"/>
          </p:cNvSpPr>
          <p:nvPr/>
        </p:nvSpPr>
        <p:spPr>
          <a:xfrm>
            <a:off x="8401050" y="1981200"/>
            <a:ext cx="320040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Rwanda-accent">
            <a:extLst>
              <a:ext uri="{FF2B5EF4-FFF2-40B4-BE49-F238E27FC236}">
                <a16:creationId xmlns:a16="http://schemas.microsoft.com/office/drawing/2014/main" id="{288973D7-BC0F-4587-B4BB-B3F4092ED0F2}"/>
              </a:ext>
            </a:extLst>
          </p:cNvPr>
          <p:cNvSpPr>
            <a:spLocks noGrp="1"/>
          </p:cNvSpPr>
          <p:nvPr/>
        </p:nvSpPr>
        <p:spPr>
          <a:xfrm>
            <a:off x="8401050" y="1981200"/>
            <a:ext cx="3200400" cy="66675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Rwanda-value">
            <a:extLst>
              <a:ext uri="{FF2B5EF4-FFF2-40B4-BE49-F238E27FC236}">
                <a16:creationId xmlns:a16="http://schemas.microsoft.com/office/drawing/2014/main" id="{4C91E779-6471-4B66-9FE8-D5367D5B70EF}"/>
              </a:ext>
            </a:extLst>
          </p:cNvPr>
          <p:cNvSpPr>
            <a:spLocks noGrp="1"/>
          </p:cNvSpPr>
          <p:nvPr/>
        </p:nvSpPr>
        <p:spPr>
          <a:xfrm>
            <a:off x="8572500" y="2152650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+80.0%</a:t>
            </a:r>
          </a:p>
        </p:txBody>
      </p:sp>
      <p:sp>
        <p:nvSpPr>
          <p:cNvPr id="16" name="Rwanda-label">
            <a:extLst>
              <a:ext uri="{FF2B5EF4-FFF2-40B4-BE49-F238E27FC236}">
                <a16:creationId xmlns:a16="http://schemas.microsoft.com/office/drawing/2014/main" id="{76FCDB01-ADE7-41F5-BE38-545BD4FF06A5}"/>
              </a:ext>
            </a:extLst>
          </p:cNvPr>
          <p:cNvSpPr>
            <a:spLocks noGrp="1"/>
          </p:cNvSpPr>
          <p:nvPr/>
        </p:nvSpPr>
        <p:spPr>
          <a:xfrm>
            <a:off x="8572500" y="26670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Rwanda</a:t>
            </a:r>
          </a:p>
        </p:txBody>
      </p:sp>
      <p:sp>
        <p:nvSpPr>
          <p:cNvPr id="17" name="Rwanda-note">
            <a:extLst>
              <a:ext uri="{FF2B5EF4-FFF2-40B4-BE49-F238E27FC236}">
                <a16:creationId xmlns:a16="http://schemas.microsoft.com/office/drawing/2014/main" id="{F74F0777-8DF4-45F1-8D8C-B591B89242D3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largest 2010–2024 rise</a:t>
            </a:r>
          </a:p>
        </p:txBody>
      </p:sp>
      <p:sp>
        <p:nvSpPr>
          <p:cNvPr id="18" name="q1-explainer">
            <a:extLst>
              <a:ext uri="{FF2B5EF4-FFF2-40B4-BE49-F238E27FC236}">
                <a16:creationId xmlns:a16="http://schemas.microsoft.com/office/drawing/2014/main" id="{B31E5D5A-3796-45AD-89BE-66975A744631}"/>
              </a:ext>
            </a:extLst>
          </p:cNvPr>
          <p:cNvSpPr>
            <a:spLocks noGrp="1"/>
          </p:cNvSpPr>
          <p:nvPr/>
        </p:nvSpPr>
        <p:spPr>
          <a:xfrm>
            <a:off x="8401050" y="3790950"/>
            <a:ext cx="320040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q1-how">
            <a:extLst>
              <a:ext uri="{FF2B5EF4-FFF2-40B4-BE49-F238E27FC236}">
                <a16:creationId xmlns:a16="http://schemas.microsoft.com/office/drawing/2014/main" id="{A5B4C765-2A4F-46BA-AD15-6192A06E98DD}"/>
              </a:ext>
            </a:extLst>
          </p:cNvPr>
          <p:cNvSpPr>
            <a:spLocks noGrp="1"/>
          </p:cNvSpPr>
          <p:nvPr/>
        </p:nvSpPr>
        <p:spPr>
          <a:xfrm>
            <a:off x="8610600" y="4000500"/>
            <a:ext cx="2781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How we solved it</a:t>
            </a:r>
          </a:p>
        </p:txBody>
      </p:sp>
      <p:sp>
        <p:nvSpPr>
          <p:cNvPr id="20" name="q1-body">
            <a:extLst>
              <a:ext uri="{FF2B5EF4-FFF2-40B4-BE49-F238E27FC236}">
                <a16:creationId xmlns:a16="http://schemas.microsoft.com/office/drawing/2014/main" id="{52C79E99-1707-48FA-89B7-5CC0790A56D1}"/>
              </a:ext>
            </a:extLst>
          </p:cNvPr>
          <p:cNvSpPr>
            <a:spLocks noGrp="1"/>
          </p:cNvSpPr>
          <p:nvPr/>
        </p:nvSpPr>
        <p:spPr>
          <a:xfrm>
            <a:off x="8610600" y="4457700"/>
            <a:ext cx="27813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We compared each country’s inflation-adjusted GDP per person in the exact start and end years, then ranked the percentage change.</a:t>
            </a:r>
          </a:p>
        </p:txBody>
      </p:sp>
    </p:spTree>
    <p:extLst>
      <p:ext uri="{BB962C8B-B14F-4D97-AF65-F5344CB8AC3E}">
        <p14:creationId xmlns:p14="http://schemas.microsoft.com/office/powerpoint/2010/main" val="1809517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rule-gold">
            <a:extLst>
              <a:ext uri="{FF2B5EF4-FFF2-40B4-BE49-F238E27FC236}">
                <a16:creationId xmlns:a16="http://schemas.microsoft.com/office/drawing/2014/main" id="{DD38FBCF-CE67-484F-A1E7-E79D47D19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93E69496-BEBB-4B8A-8761-9C063AF299D7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A910996F-A456-4B07-A123-11C08E1C481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9D7EF922-E4AF-4ECA-940A-DB67E82D44EC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RESEARCH QUESTION 2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14510578-4B87-40AF-B06C-AA0E56056780}"/>
              </a:ext>
            </a:extLst>
          </p:cNvPr>
          <p:cNvSpPr>
            <a:spLocks noGrp="1"/>
          </p:cNvSpPr>
          <p:nvPr/>
        </p:nvSpPr>
        <p:spPr>
          <a:xfrm>
            <a:off x="585787" y="564549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6757" lnSpcReduction="20000"/>
          </a:bodyPr>
          <a:lstStyle/>
          <a:p>
            <a:pPr algn="l">
              <a:defRPr sz="36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lang="en-US" sz="36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Relative Improvement in GDP and Life </a:t>
            </a:r>
            <a:r>
              <a:rPr lang="en-US" sz="3600" b="1" dirty="0" err="1">
                <a:solidFill>
                  <a:srgbClr val="3848A2"/>
                </a:solidFill>
                <a:latin typeface="Aptos"/>
                <a:ea typeface="Aptos"/>
                <a:cs typeface="Aptos"/>
              </a:rPr>
              <a:t>Expectancty</a:t>
            </a:r>
            <a:endParaRPr sz="3600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AEC81AEA-C16D-4573-BB43-FC15AF576D60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F09FAA7E-C533-45CE-829E-18491AFE953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answer-Answer: 0 of 8 count">
            <a:extLst>
              <a:ext uri="{FF2B5EF4-FFF2-40B4-BE49-F238E27FC236}">
                <a16:creationId xmlns:a16="http://schemas.microsoft.com/office/drawing/2014/main" id="{D8208606-07B2-4EAC-B50A-34CD981927CD}"/>
              </a:ext>
            </a:extLst>
          </p:cNvPr>
          <p:cNvSpPr>
            <a:spLocks noGrp="1"/>
          </p:cNvSpPr>
          <p:nvPr/>
        </p:nvSpPr>
        <p:spPr>
          <a:xfrm>
            <a:off x="590550" y="1228725"/>
            <a:ext cx="11049000" cy="552450"/>
          </a:xfrm>
          <a:prstGeom prst="roundRect">
            <a:avLst>
              <a:gd name="adj" fmla="val 13793"/>
            </a:avLst>
          </a:prstGeom>
          <a:solidFill>
            <a:srgbClr val="FBE5E4"/>
          </a:solidFill>
          <a:ln w="0">
            <a:solidFill>
              <a:srgbClr val="FBE5E4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answer-text-Answer: 0 of 8 count">
            <a:extLst>
              <a:ext uri="{FF2B5EF4-FFF2-40B4-BE49-F238E27FC236}">
                <a16:creationId xmlns:a16="http://schemas.microsoft.com/office/drawing/2014/main" id="{A0D52A36-F0D3-4CBF-920E-6CE3E1EE7AFC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10706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76998" lnSpcReduction="20000"/>
          </a:bodyPr>
          <a:lstStyle/>
          <a:p>
            <a:pPr>
              <a:defRPr sz="18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Answer:</a:t>
            </a:r>
            <a:r>
              <a:rPr lang="en-US" sz="1875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NO(</a:t>
            </a:r>
            <a:r>
              <a:rPr lang="en-GB" sz="20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Income grew faster than life expectancy</a:t>
            </a:r>
            <a:r>
              <a:rPr lang="en-US" sz="1875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)</a:t>
            </a:r>
            <a:r>
              <a:rPr sz="1875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 0 of 8 countries improved GDP per person and life expectancy at nearly the same rate.</a:t>
            </a:r>
          </a:p>
        </p:txBody>
      </p:sp>
      <p:sp>
        <p:nvSpPr>
          <p:cNvPr id="11" name="indexed-lines-frame">
            <a:extLst>
              <a:ext uri="{FF2B5EF4-FFF2-40B4-BE49-F238E27FC236}">
                <a16:creationId xmlns:a16="http://schemas.microsoft.com/office/drawing/2014/main" id="{77A36105-AA56-4CBD-917C-79A6BF5F13EE}"/>
              </a:ext>
            </a:extLst>
          </p:cNvPr>
          <p:cNvSpPr>
            <a:spLocks noGrp="1"/>
          </p:cNvSpPr>
          <p:nvPr/>
        </p:nvSpPr>
        <p:spPr>
          <a:xfrm>
            <a:off x="590550" y="1981200"/>
            <a:ext cx="7667625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2580306"/>
            <a:ext cx="7400925" cy="2840388"/>
          </a:xfrm>
          <a:prstGeom prst="rect">
            <a:avLst/>
          </a:prstGeom>
        </p:spPr>
      </p:pic>
      <p:sp>
        <p:nvSpPr>
          <p:cNvPr id="13" name="Rwanda’s gap-card">
            <a:extLst>
              <a:ext uri="{FF2B5EF4-FFF2-40B4-BE49-F238E27FC236}">
                <a16:creationId xmlns:a16="http://schemas.microsoft.com/office/drawing/2014/main" id="{AADE3CF9-A440-41B0-9E6C-752C9CFF2485}"/>
              </a:ext>
            </a:extLst>
          </p:cNvPr>
          <p:cNvSpPr>
            <a:spLocks noGrp="1"/>
          </p:cNvSpPr>
          <p:nvPr/>
        </p:nvSpPr>
        <p:spPr>
          <a:xfrm>
            <a:off x="8524875" y="1981200"/>
            <a:ext cx="307657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Rwanda’s gap-accent">
            <a:extLst>
              <a:ext uri="{FF2B5EF4-FFF2-40B4-BE49-F238E27FC236}">
                <a16:creationId xmlns:a16="http://schemas.microsoft.com/office/drawing/2014/main" id="{D0853453-C75A-41F1-989D-1986B06BA6F6}"/>
              </a:ext>
            </a:extLst>
          </p:cNvPr>
          <p:cNvSpPr>
            <a:spLocks noGrp="1"/>
          </p:cNvSpPr>
          <p:nvPr/>
        </p:nvSpPr>
        <p:spPr>
          <a:xfrm>
            <a:off x="8524875" y="1981200"/>
            <a:ext cx="3076575" cy="66675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Rwanda’s gap-value">
            <a:extLst>
              <a:ext uri="{FF2B5EF4-FFF2-40B4-BE49-F238E27FC236}">
                <a16:creationId xmlns:a16="http://schemas.microsoft.com/office/drawing/2014/main" id="{E5D48CC9-1485-456A-96C3-9100FFD13337}"/>
              </a:ext>
            </a:extLst>
          </p:cNvPr>
          <p:cNvSpPr>
            <a:spLocks noGrp="1"/>
          </p:cNvSpPr>
          <p:nvPr/>
        </p:nvSpPr>
        <p:spPr>
          <a:xfrm>
            <a:off x="8696325" y="2152650"/>
            <a:ext cx="27336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3.72 pp/yr</a:t>
            </a:r>
          </a:p>
        </p:txBody>
      </p:sp>
      <p:sp>
        <p:nvSpPr>
          <p:cNvPr id="16" name="Rwanda’s gap-label">
            <a:extLst>
              <a:ext uri="{FF2B5EF4-FFF2-40B4-BE49-F238E27FC236}">
                <a16:creationId xmlns:a16="http://schemas.microsoft.com/office/drawing/2014/main" id="{49F3D5D9-98F8-4F69-9A89-A197CC7C6F4C}"/>
              </a:ext>
            </a:extLst>
          </p:cNvPr>
          <p:cNvSpPr>
            <a:spLocks noGrp="1"/>
          </p:cNvSpPr>
          <p:nvPr/>
        </p:nvSpPr>
        <p:spPr>
          <a:xfrm>
            <a:off x="8696325" y="2667000"/>
            <a:ext cx="27336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Rwanda’s gap</a:t>
            </a:r>
          </a:p>
        </p:txBody>
      </p:sp>
      <p:sp>
        <p:nvSpPr>
          <p:cNvPr id="17" name="Rwanda’s gap-note">
            <a:extLst>
              <a:ext uri="{FF2B5EF4-FFF2-40B4-BE49-F238E27FC236}">
                <a16:creationId xmlns:a16="http://schemas.microsoft.com/office/drawing/2014/main" id="{3529C18D-D0BC-4DD9-A845-47A3C693D6FA}"/>
              </a:ext>
            </a:extLst>
          </p:cNvPr>
          <p:cNvSpPr>
            <a:spLocks noGrp="1"/>
          </p:cNvSpPr>
          <p:nvPr/>
        </p:nvSpPr>
        <p:spPr>
          <a:xfrm>
            <a:off x="8696325" y="3352800"/>
            <a:ext cx="27336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GDP 4.29% vs life 0.57%</a:t>
            </a:r>
          </a:p>
        </p:txBody>
      </p:sp>
      <p:sp>
        <p:nvSpPr>
          <p:cNvPr id="18" name="q2-explainer">
            <a:extLst>
              <a:ext uri="{FF2B5EF4-FFF2-40B4-BE49-F238E27FC236}">
                <a16:creationId xmlns:a16="http://schemas.microsoft.com/office/drawing/2014/main" id="{9B0A5412-6AA5-4DA2-A6DD-8B5AA34FF731}"/>
              </a:ext>
            </a:extLst>
          </p:cNvPr>
          <p:cNvSpPr>
            <a:spLocks noGrp="1"/>
          </p:cNvSpPr>
          <p:nvPr/>
        </p:nvSpPr>
        <p:spPr>
          <a:xfrm>
            <a:off x="8524875" y="3905250"/>
            <a:ext cx="3076575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q2-how">
            <a:extLst>
              <a:ext uri="{FF2B5EF4-FFF2-40B4-BE49-F238E27FC236}">
                <a16:creationId xmlns:a16="http://schemas.microsoft.com/office/drawing/2014/main" id="{C04DD26A-2FA5-413C-B12E-64FE1B3A4737}"/>
              </a:ext>
            </a:extLst>
          </p:cNvPr>
          <p:cNvSpPr>
            <a:spLocks noGrp="1"/>
          </p:cNvSpPr>
          <p:nvPr/>
        </p:nvSpPr>
        <p:spPr>
          <a:xfrm>
            <a:off x="8734425" y="409575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How we solved it</a:t>
            </a:r>
          </a:p>
        </p:txBody>
      </p:sp>
      <p:sp>
        <p:nvSpPr>
          <p:cNvPr id="20" name="q2-body">
            <a:extLst>
              <a:ext uri="{FF2B5EF4-FFF2-40B4-BE49-F238E27FC236}">
                <a16:creationId xmlns:a16="http://schemas.microsoft.com/office/drawing/2014/main" id="{A17A68F8-6292-47F0-B357-C051F79A486E}"/>
              </a:ext>
            </a:extLst>
          </p:cNvPr>
          <p:cNvSpPr>
            <a:spLocks noGrp="1"/>
          </p:cNvSpPr>
          <p:nvPr/>
        </p:nvSpPr>
        <p:spPr>
          <a:xfrm>
            <a:off x="8734425" y="4552950"/>
            <a:ext cx="26479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575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We set both measures to 100 in the first year, calculated annual rates, and compared them.</a:t>
            </a:r>
          </a:p>
        </p:txBody>
      </p:sp>
      <p:sp>
        <p:nvSpPr>
          <p:cNvPr id="21" name="q2-note">
            <a:extLst>
              <a:ext uri="{FF2B5EF4-FFF2-40B4-BE49-F238E27FC236}">
                <a16:creationId xmlns:a16="http://schemas.microsoft.com/office/drawing/2014/main" id="{57D3108D-B9C9-4F01-A868-A68E5F6E60D8}"/>
              </a:ext>
            </a:extLst>
          </p:cNvPr>
          <p:cNvSpPr>
            <a:spLocks noGrp="1"/>
          </p:cNvSpPr>
          <p:nvPr/>
        </p:nvSpPr>
        <p:spPr>
          <a:xfrm>
            <a:off x="8734425" y="5543550"/>
            <a:ext cx="2647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137"/>
          </a:bodyPr>
          <a:lstStyle/>
          <a:p>
            <a:pPr algn="l">
              <a:defRPr sz="1275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endParaRPr sz="1275" b="0" dirty="0">
              <a:solidFill>
                <a:srgbClr val="64646D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77907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rule-gold">
            <a:extLst>
              <a:ext uri="{FF2B5EF4-FFF2-40B4-BE49-F238E27FC236}">
                <a16:creationId xmlns:a16="http://schemas.microsoft.com/office/drawing/2014/main" id="{F715C0F2-F59D-4480-887B-275FE07038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7FBC107B-38A0-4B96-BB59-15446951B628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316273C2-5BA3-4A08-AA8B-D912857182DC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86C79442-EF28-46E3-AA3B-F0959813F1FD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RESEARCH QUESTION 3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20EB98C4-858B-4B67-A572-D1D61370AE14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855"/>
          </a:bodyPr>
          <a:lstStyle/>
          <a:p>
            <a:pPr algn="l">
              <a:defRPr sz="36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lang="en-US" sz="36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Secondary School Enrolment Rate</a:t>
            </a:r>
            <a:endParaRPr sz="3600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19FF9DF6-1B26-4965-B7BA-696B9404C61D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FFD36954-00F4-4D6F-9903-924CF9B41448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answer-Provisional answer: ">
            <a:extLst>
              <a:ext uri="{FF2B5EF4-FFF2-40B4-BE49-F238E27FC236}">
                <a16:creationId xmlns:a16="http://schemas.microsoft.com/office/drawing/2014/main" id="{60AC966C-0BFC-4D7B-9506-DA212B47D789}"/>
              </a:ext>
            </a:extLst>
          </p:cNvPr>
          <p:cNvSpPr>
            <a:spLocks noGrp="1"/>
          </p:cNvSpPr>
          <p:nvPr/>
        </p:nvSpPr>
        <p:spPr>
          <a:xfrm>
            <a:off x="590550" y="1228725"/>
            <a:ext cx="11049000" cy="552450"/>
          </a:xfrm>
          <a:prstGeom prst="roundRect">
            <a:avLst>
              <a:gd name="adj" fmla="val 13793"/>
            </a:avLst>
          </a:prstGeom>
          <a:solidFill>
            <a:srgbClr val="FBE5E4"/>
          </a:solidFill>
          <a:ln w="0">
            <a:solidFill>
              <a:srgbClr val="FBE5E4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answer-text-Provisional answer: ">
            <a:extLst>
              <a:ext uri="{FF2B5EF4-FFF2-40B4-BE49-F238E27FC236}">
                <a16:creationId xmlns:a16="http://schemas.microsoft.com/office/drawing/2014/main" id="{947C857B-F1FC-479A-8180-4A3B70FFFBC3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10706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74330" lnSpcReduction="20000"/>
          </a:bodyPr>
          <a:lstStyle/>
          <a:p>
            <a:pPr>
              <a:defRPr sz="18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Provisional answer: </a:t>
            </a:r>
            <a:r>
              <a:rPr lang="en-US" sz="1875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(</a:t>
            </a:r>
            <a:r>
              <a:rPr lang="en-GB" sz="20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South Sudan leads estimated enrolment gains—with caution</a:t>
            </a:r>
            <a:r>
              <a:rPr lang="en-US" sz="1875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) </a:t>
            </a:r>
            <a:r>
              <a:rPr sz="1875" b="1" dirty="0">
                <a:solidFill>
                  <a:srgbClr val="E52D2C"/>
                </a:solidFill>
                <a:latin typeface="Aptos"/>
                <a:ea typeface="Aptos"/>
                <a:cs typeface="Aptos"/>
              </a:rPr>
              <a:t>+110.9 percentage points from 2010 to 2024; only 3 of 15 years were reported.</a:t>
            </a:r>
          </a:p>
        </p:txBody>
      </p:sp>
      <p:sp>
        <p:nvSpPr>
          <p:cNvPr id="11" name="enrolment-rank-frame">
            <a:extLst>
              <a:ext uri="{FF2B5EF4-FFF2-40B4-BE49-F238E27FC236}">
                <a16:creationId xmlns:a16="http://schemas.microsoft.com/office/drawing/2014/main" id="{8AE130C7-5167-4666-9773-51B7910AEA1C}"/>
              </a:ext>
            </a:extLst>
          </p:cNvPr>
          <p:cNvSpPr>
            <a:spLocks noGrp="1"/>
          </p:cNvSpPr>
          <p:nvPr/>
        </p:nvSpPr>
        <p:spPr>
          <a:xfrm>
            <a:off x="590550" y="1981200"/>
            <a:ext cx="760095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73192" y="2095500"/>
            <a:ext cx="6435666" cy="3810000"/>
          </a:xfrm>
          <a:prstGeom prst="rect">
            <a:avLst/>
          </a:prstGeom>
        </p:spPr>
      </p:pic>
      <p:sp>
        <p:nvSpPr>
          <p:cNvPr id="13" name="South Sudan years-card">
            <a:extLst>
              <a:ext uri="{FF2B5EF4-FFF2-40B4-BE49-F238E27FC236}">
                <a16:creationId xmlns:a16="http://schemas.microsoft.com/office/drawing/2014/main" id="{380F644D-BBB4-4277-96E0-00529FFFEC1C}"/>
              </a:ext>
            </a:extLst>
          </p:cNvPr>
          <p:cNvSpPr>
            <a:spLocks noGrp="1"/>
          </p:cNvSpPr>
          <p:nvPr/>
        </p:nvSpPr>
        <p:spPr>
          <a:xfrm>
            <a:off x="8458200" y="1981200"/>
            <a:ext cx="31432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South Sudan years-accent">
            <a:extLst>
              <a:ext uri="{FF2B5EF4-FFF2-40B4-BE49-F238E27FC236}">
                <a16:creationId xmlns:a16="http://schemas.microsoft.com/office/drawing/2014/main" id="{22EA3E6B-9583-447D-84C3-5260151EF90E}"/>
              </a:ext>
            </a:extLst>
          </p:cNvPr>
          <p:cNvSpPr>
            <a:spLocks noGrp="1"/>
          </p:cNvSpPr>
          <p:nvPr/>
        </p:nvSpPr>
        <p:spPr>
          <a:xfrm>
            <a:off x="8458200" y="1981200"/>
            <a:ext cx="3143250" cy="66675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outh Sudan years-value">
            <a:extLst>
              <a:ext uri="{FF2B5EF4-FFF2-40B4-BE49-F238E27FC236}">
                <a16:creationId xmlns:a16="http://schemas.microsoft.com/office/drawing/2014/main" id="{B129139F-34B9-4C03-94DC-793BF6C596B2}"/>
              </a:ext>
            </a:extLst>
          </p:cNvPr>
          <p:cNvSpPr>
            <a:spLocks noGrp="1"/>
          </p:cNvSpPr>
          <p:nvPr/>
        </p:nvSpPr>
        <p:spPr>
          <a:xfrm>
            <a:off x="8629650" y="2152650"/>
            <a:ext cx="2800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3 reported</a:t>
            </a:r>
          </a:p>
        </p:txBody>
      </p:sp>
      <p:sp>
        <p:nvSpPr>
          <p:cNvPr id="16" name="South Sudan years-label">
            <a:extLst>
              <a:ext uri="{FF2B5EF4-FFF2-40B4-BE49-F238E27FC236}">
                <a16:creationId xmlns:a16="http://schemas.microsoft.com/office/drawing/2014/main" id="{8DBBD1A6-438B-4C86-912A-E23CE817E46B}"/>
              </a:ext>
            </a:extLst>
          </p:cNvPr>
          <p:cNvSpPr>
            <a:spLocks noGrp="1"/>
          </p:cNvSpPr>
          <p:nvPr/>
        </p:nvSpPr>
        <p:spPr>
          <a:xfrm>
            <a:off x="8629650" y="2667000"/>
            <a:ext cx="2800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South Sudan years</a:t>
            </a:r>
          </a:p>
        </p:txBody>
      </p:sp>
      <p:sp>
        <p:nvSpPr>
          <p:cNvPr id="17" name="South Sudan years-note">
            <a:extLst>
              <a:ext uri="{FF2B5EF4-FFF2-40B4-BE49-F238E27FC236}">
                <a16:creationId xmlns:a16="http://schemas.microsoft.com/office/drawing/2014/main" id="{D152C73D-89D6-458C-8C96-F910BDDAF95A}"/>
              </a:ext>
            </a:extLst>
          </p:cNvPr>
          <p:cNvSpPr>
            <a:spLocks noGrp="1"/>
          </p:cNvSpPr>
          <p:nvPr/>
        </p:nvSpPr>
        <p:spPr>
          <a:xfrm>
            <a:off x="8629650" y="3228975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12 years were imputed</a:t>
            </a:r>
          </a:p>
        </p:txBody>
      </p:sp>
      <p:sp>
        <p:nvSpPr>
          <p:cNvPr id="18" name="q3-explainer">
            <a:extLst>
              <a:ext uri="{FF2B5EF4-FFF2-40B4-BE49-F238E27FC236}">
                <a16:creationId xmlns:a16="http://schemas.microsoft.com/office/drawing/2014/main" id="{29094634-1B64-47F7-A732-D4DBBE3BAEDA}"/>
              </a:ext>
            </a:extLst>
          </p:cNvPr>
          <p:cNvSpPr>
            <a:spLocks noGrp="1"/>
          </p:cNvSpPr>
          <p:nvPr/>
        </p:nvSpPr>
        <p:spPr>
          <a:xfrm>
            <a:off x="8458200" y="3762375"/>
            <a:ext cx="3143250" cy="2276475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q3-how">
            <a:extLst>
              <a:ext uri="{FF2B5EF4-FFF2-40B4-BE49-F238E27FC236}">
                <a16:creationId xmlns:a16="http://schemas.microsoft.com/office/drawing/2014/main" id="{88C90DA1-AF5F-4A19-88E0-7BB729214E52}"/>
              </a:ext>
            </a:extLst>
          </p:cNvPr>
          <p:cNvSpPr>
            <a:spLocks noGrp="1"/>
          </p:cNvSpPr>
          <p:nvPr/>
        </p:nvSpPr>
        <p:spPr>
          <a:xfrm>
            <a:off x="8667750" y="3971925"/>
            <a:ext cx="2724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How we solved it</a:t>
            </a:r>
          </a:p>
        </p:txBody>
      </p:sp>
      <p:sp>
        <p:nvSpPr>
          <p:cNvPr id="20" name="q3-body">
            <a:extLst>
              <a:ext uri="{FF2B5EF4-FFF2-40B4-BE49-F238E27FC236}">
                <a16:creationId xmlns:a16="http://schemas.microsoft.com/office/drawing/2014/main" id="{93E35132-0714-452D-BD1A-055DB98A9D72}"/>
              </a:ext>
            </a:extLst>
          </p:cNvPr>
          <p:cNvSpPr>
            <a:spLocks noGrp="1"/>
          </p:cNvSpPr>
          <p:nvPr/>
        </p:nvSpPr>
        <p:spPr>
          <a:xfrm>
            <a:off x="8667750" y="4419600"/>
            <a:ext cx="27241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611" lnSpcReduction="10000"/>
          </a:bodyPr>
          <a:lstStyle/>
          <a:p>
            <a:pPr algn="l">
              <a:defRPr sz="150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We completed a 2010–2024 yearly panel, compared each country’s endpoints, and ranked the change. Then we checked how much of each result was reported versus estimated.</a:t>
            </a:r>
          </a:p>
        </p:txBody>
      </p:sp>
    </p:spTree>
    <p:extLst>
      <p:ext uri="{BB962C8B-B14F-4D97-AF65-F5344CB8AC3E}">
        <p14:creationId xmlns:p14="http://schemas.microsoft.com/office/powerpoint/2010/main" val="593895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rule-gold">
            <a:extLst>
              <a:ext uri="{FF2B5EF4-FFF2-40B4-BE49-F238E27FC236}">
                <a16:creationId xmlns:a16="http://schemas.microsoft.com/office/drawing/2014/main" id="{86BE3E4D-880D-4CCD-ACD4-CB0BC1640F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59F01DAC-9F0D-4E99-A616-070FAD474F39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6690EC1A-10DF-4A6B-99F2-B6A18C47BBAB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A6566E20-E166-4A7B-9CC4-E0E694356A1A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RESEARCH QUESTION 4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A4283289-0080-42B9-94BF-3A06BBF58E6C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609"/>
          </a:bodyPr>
          <a:lstStyle/>
          <a:p>
            <a:pPr algn="l">
              <a:defRPr sz="36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lang="en-US" sz="36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GDP per Capita and Life expectancy</a:t>
            </a:r>
            <a:endParaRPr sz="3600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6B880368-0CBC-4CA4-B236-8D4136205148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1DD4B112-A1F6-4039-BF18-FFDB7CC80278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answer-Answer: the conclusi">
            <a:extLst>
              <a:ext uri="{FF2B5EF4-FFF2-40B4-BE49-F238E27FC236}">
                <a16:creationId xmlns:a16="http://schemas.microsoft.com/office/drawing/2014/main" id="{39FED7F9-EB7B-437F-A54A-BA5FD772909F}"/>
              </a:ext>
            </a:extLst>
          </p:cNvPr>
          <p:cNvSpPr>
            <a:spLocks noGrp="1"/>
          </p:cNvSpPr>
          <p:nvPr/>
        </p:nvSpPr>
        <p:spPr>
          <a:xfrm>
            <a:off x="590550" y="1228725"/>
            <a:ext cx="11049000" cy="552450"/>
          </a:xfrm>
          <a:prstGeom prst="roundRect">
            <a:avLst>
              <a:gd name="adj" fmla="val 13793"/>
            </a:avLst>
          </a:prstGeom>
          <a:solidFill>
            <a:srgbClr val="EEF0FA"/>
          </a:solidFill>
          <a:ln w="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answer-text-Answer: the conclusi">
            <a:extLst>
              <a:ext uri="{FF2B5EF4-FFF2-40B4-BE49-F238E27FC236}">
                <a16:creationId xmlns:a16="http://schemas.microsoft.com/office/drawing/2014/main" id="{3DF20347-8F78-41E5-8781-24A100912C84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10706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76258" lnSpcReduction="20000"/>
          </a:bodyPr>
          <a:lstStyle/>
          <a:p>
            <a:pPr>
              <a:defRPr sz="187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Answer </a:t>
            </a:r>
            <a:r>
              <a:rPr lang="en-US" sz="18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: (</a:t>
            </a:r>
            <a:r>
              <a:rPr lang="en-GB" sz="20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The GDP–life expectancy answer is model-sensitive</a:t>
            </a:r>
            <a:r>
              <a:rPr lang="en-US" sz="18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)</a:t>
            </a:r>
            <a:r>
              <a:rPr sz="18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the conclusion changes after imputation and controls, so the relationship is not robust.</a:t>
            </a:r>
          </a:p>
        </p:txBody>
      </p:sp>
      <p:sp>
        <p:nvSpPr>
          <p:cNvPr id="11" name="gdp-life-scatter-frame">
            <a:extLst>
              <a:ext uri="{FF2B5EF4-FFF2-40B4-BE49-F238E27FC236}">
                <a16:creationId xmlns:a16="http://schemas.microsoft.com/office/drawing/2014/main" id="{783BD46E-BAB6-4D25-AFB1-EDFD93CB125C}"/>
              </a:ext>
            </a:extLst>
          </p:cNvPr>
          <p:cNvSpPr>
            <a:spLocks noGrp="1"/>
          </p:cNvSpPr>
          <p:nvPr/>
        </p:nvSpPr>
        <p:spPr>
          <a:xfrm>
            <a:off x="590550" y="1981200"/>
            <a:ext cx="742950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81001" y="2095500"/>
            <a:ext cx="5848597" cy="3810000"/>
          </a:xfrm>
          <a:prstGeom prst="rect">
            <a:avLst/>
          </a:prstGeom>
        </p:spPr>
      </p:pic>
      <p:sp>
        <p:nvSpPr>
          <p:cNvPr id="13" name="completed r-card">
            <a:extLst>
              <a:ext uri="{FF2B5EF4-FFF2-40B4-BE49-F238E27FC236}">
                <a16:creationId xmlns:a16="http://schemas.microsoft.com/office/drawing/2014/main" id="{6972DCD7-BA3A-4E23-BFC4-D69CB68CF0D5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15811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completed r-accent">
            <a:extLst>
              <a:ext uri="{FF2B5EF4-FFF2-40B4-BE49-F238E27FC236}">
                <a16:creationId xmlns:a16="http://schemas.microsoft.com/office/drawing/2014/main" id="{335E2DC1-6FE0-40EB-8818-FAA4BA7C5BFB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1581150" cy="66675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completed r-value">
            <a:extLst>
              <a:ext uri="{FF2B5EF4-FFF2-40B4-BE49-F238E27FC236}">
                <a16:creationId xmlns:a16="http://schemas.microsoft.com/office/drawing/2014/main" id="{610A2EE9-0291-4A45-B66C-7F59916E023C}"/>
              </a:ext>
            </a:extLst>
          </p:cNvPr>
          <p:cNvSpPr>
            <a:spLocks noGrp="1"/>
          </p:cNvSpPr>
          <p:nvPr/>
        </p:nvSpPr>
        <p:spPr>
          <a:xfrm>
            <a:off x="8458200" y="2152650"/>
            <a:ext cx="1238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0.109</a:t>
            </a:r>
          </a:p>
        </p:txBody>
      </p:sp>
      <p:sp>
        <p:nvSpPr>
          <p:cNvPr id="16" name="completed r-label">
            <a:extLst>
              <a:ext uri="{FF2B5EF4-FFF2-40B4-BE49-F238E27FC236}">
                <a16:creationId xmlns:a16="http://schemas.microsoft.com/office/drawing/2014/main" id="{2D8ADE7C-201B-4FF6-BB9D-A643F5DD65C9}"/>
              </a:ext>
            </a:extLst>
          </p:cNvPr>
          <p:cNvSpPr>
            <a:spLocks noGrp="1"/>
          </p:cNvSpPr>
          <p:nvPr/>
        </p:nvSpPr>
        <p:spPr>
          <a:xfrm>
            <a:off x="8458200" y="2667000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64646D"/>
                </a:solidFill>
                <a:latin typeface="Aptos"/>
                <a:ea typeface="Aptos"/>
                <a:cs typeface="Aptos"/>
              </a:rPr>
              <a:t>completed r</a:t>
            </a:r>
          </a:p>
        </p:txBody>
      </p:sp>
      <p:sp>
        <p:nvSpPr>
          <p:cNvPr id="17" name="completed r-note">
            <a:extLst>
              <a:ext uri="{FF2B5EF4-FFF2-40B4-BE49-F238E27FC236}">
                <a16:creationId xmlns:a16="http://schemas.microsoft.com/office/drawing/2014/main" id="{A99BC134-583D-478A-88D4-0E73908EAF1A}"/>
              </a:ext>
            </a:extLst>
          </p:cNvPr>
          <p:cNvSpPr>
            <a:spLocks noGrp="1"/>
          </p:cNvSpPr>
          <p:nvPr/>
        </p:nvSpPr>
        <p:spPr>
          <a:xfrm>
            <a:off x="8458200" y="32289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3034" lnSpcReduction="20000"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p = 0.238; not significant</a:t>
            </a:r>
          </a:p>
        </p:txBody>
      </p:sp>
      <p:sp>
        <p:nvSpPr>
          <p:cNvPr id="18" name="reported-only p-card">
            <a:extLst>
              <a:ext uri="{FF2B5EF4-FFF2-40B4-BE49-F238E27FC236}">
                <a16:creationId xmlns:a16="http://schemas.microsoft.com/office/drawing/2014/main" id="{937C6237-5BCB-4233-A13F-5242A3F431E5}"/>
              </a:ext>
            </a:extLst>
          </p:cNvPr>
          <p:cNvSpPr>
            <a:spLocks noGrp="1"/>
          </p:cNvSpPr>
          <p:nvPr/>
        </p:nvSpPr>
        <p:spPr>
          <a:xfrm>
            <a:off x="10020300" y="1981200"/>
            <a:ext cx="15811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reported-only p-accent">
            <a:extLst>
              <a:ext uri="{FF2B5EF4-FFF2-40B4-BE49-F238E27FC236}">
                <a16:creationId xmlns:a16="http://schemas.microsoft.com/office/drawing/2014/main" id="{9730F9D8-7825-4A7D-8FCA-77B91749054B}"/>
              </a:ext>
            </a:extLst>
          </p:cNvPr>
          <p:cNvSpPr>
            <a:spLocks noGrp="1"/>
          </p:cNvSpPr>
          <p:nvPr/>
        </p:nvSpPr>
        <p:spPr>
          <a:xfrm>
            <a:off x="10020300" y="1981200"/>
            <a:ext cx="1581150" cy="66675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reported-only p-value">
            <a:extLst>
              <a:ext uri="{FF2B5EF4-FFF2-40B4-BE49-F238E27FC236}">
                <a16:creationId xmlns:a16="http://schemas.microsoft.com/office/drawing/2014/main" id="{558F860A-F450-4C58-B18A-DF4E39A2DA27}"/>
              </a:ext>
            </a:extLst>
          </p:cNvPr>
          <p:cNvSpPr>
            <a:spLocks noGrp="1"/>
          </p:cNvSpPr>
          <p:nvPr/>
        </p:nvSpPr>
        <p:spPr>
          <a:xfrm>
            <a:off x="10191750" y="2152650"/>
            <a:ext cx="1238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0.098</a:t>
            </a:r>
          </a:p>
        </p:txBody>
      </p:sp>
      <p:sp>
        <p:nvSpPr>
          <p:cNvPr id="21" name="reported-only p-label">
            <a:extLst>
              <a:ext uri="{FF2B5EF4-FFF2-40B4-BE49-F238E27FC236}">
                <a16:creationId xmlns:a16="http://schemas.microsoft.com/office/drawing/2014/main" id="{17863F18-074E-450F-9573-20C10B9DAF6F}"/>
              </a:ext>
            </a:extLst>
          </p:cNvPr>
          <p:cNvSpPr>
            <a:spLocks noGrp="1"/>
          </p:cNvSpPr>
          <p:nvPr/>
        </p:nvSpPr>
        <p:spPr>
          <a:xfrm>
            <a:off x="10191750" y="2667000"/>
            <a:ext cx="1238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442" lnSpcReduction="10000"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64646D"/>
                </a:solidFill>
                <a:latin typeface="Aptos"/>
                <a:ea typeface="Aptos"/>
                <a:cs typeface="Aptos"/>
              </a:rPr>
              <a:t>reported-only p</a:t>
            </a:r>
          </a:p>
        </p:txBody>
      </p:sp>
      <p:sp>
        <p:nvSpPr>
          <p:cNvPr id="22" name="reported-only p-note">
            <a:extLst>
              <a:ext uri="{FF2B5EF4-FFF2-40B4-BE49-F238E27FC236}">
                <a16:creationId xmlns:a16="http://schemas.microsoft.com/office/drawing/2014/main" id="{2D5AF12C-821B-4627-96E4-A1EBB592A5E5}"/>
              </a:ext>
            </a:extLst>
          </p:cNvPr>
          <p:cNvSpPr>
            <a:spLocks noGrp="1"/>
          </p:cNvSpPr>
          <p:nvPr/>
        </p:nvSpPr>
        <p:spPr>
          <a:xfrm>
            <a:off x="10191750" y="32289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4322" lnSpcReduction="10000"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controlled GDP effect</a:t>
            </a:r>
          </a:p>
        </p:txBody>
      </p:sp>
      <p:sp>
        <p:nvSpPr>
          <p:cNvPr id="23" name="q4-explainer">
            <a:extLst>
              <a:ext uri="{FF2B5EF4-FFF2-40B4-BE49-F238E27FC236}">
                <a16:creationId xmlns:a16="http://schemas.microsoft.com/office/drawing/2014/main" id="{695CAFB5-1B43-4E1B-856B-AD2334843E80}"/>
              </a:ext>
            </a:extLst>
          </p:cNvPr>
          <p:cNvSpPr>
            <a:spLocks noGrp="1"/>
          </p:cNvSpPr>
          <p:nvPr/>
        </p:nvSpPr>
        <p:spPr>
          <a:xfrm>
            <a:off x="8286750" y="3762375"/>
            <a:ext cx="3314700" cy="2276475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q4-how">
            <a:extLst>
              <a:ext uri="{FF2B5EF4-FFF2-40B4-BE49-F238E27FC236}">
                <a16:creationId xmlns:a16="http://schemas.microsoft.com/office/drawing/2014/main" id="{9E699326-DF1E-4AF5-B5C3-C800A3844E49}"/>
              </a:ext>
            </a:extLst>
          </p:cNvPr>
          <p:cNvSpPr>
            <a:spLocks noGrp="1"/>
          </p:cNvSpPr>
          <p:nvPr/>
        </p:nvSpPr>
        <p:spPr>
          <a:xfrm>
            <a:off x="8496300" y="3971925"/>
            <a:ext cx="2895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lang="en-US" sz="18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Explanation:</a:t>
            </a:r>
            <a:endParaRPr sz="1875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q4-body">
            <a:extLst>
              <a:ext uri="{FF2B5EF4-FFF2-40B4-BE49-F238E27FC236}">
                <a16:creationId xmlns:a16="http://schemas.microsoft.com/office/drawing/2014/main" id="{8E0786CD-6EA1-440C-9967-58E419CBF0F9}"/>
              </a:ext>
            </a:extLst>
          </p:cNvPr>
          <p:cNvSpPr>
            <a:spLocks noGrp="1"/>
          </p:cNvSpPr>
          <p:nvPr/>
        </p:nvSpPr>
        <p:spPr>
          <a:xfrm>
            <a:off x="8460131" y="4276725"/>
            <a:ext cx="28956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sz="150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lang="en-GB" sz="1400" dirty="0"/>
              <a:t>We found no reliable evidence that GDP growth alone explains life expectancy. Some models showed a relationship, while others did not, so we treat the result cautiously and do not claim that higher GDP automatically causes people to live longer</a:t>
            </a:r>
            <a:r>
              <a:rPr sz="1400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00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rule-gold">
            <a:extLst>
              <a:ext uri="{FF2B5EF4-FFF2-40B4-BE49-F238E27FC236}">
                <a16:creationId xmlns:a16="http://schemas.microsoft.com/office/drawing/2014/main" id="{148AF339-502C-48A3-9AF5-6E8CB84EE3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27F26A48-BB36-4C06-BB11-A7C10E04A6B3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8C41F802-E191-4124-A5F1-0F586E7517AA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FC077D91-5F81-4F18-AB17-843B294133CB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RESEARCH QUESTION 5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F4AFFD9D-B43E-4419-A417-86E892041B65}"/>
              </a:ext>
            </a:extLst>
          </p:cNvPr>
          <p:cNvSpPr>
            <a:spLocks noGrp="1"/>
          </p:cNvSpPr>
          <p:nvPr/>
        </p:nvSpPr>
        <p:spPr>
          <a:xfrm>
            <a:off x="585787" y="619125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6084" lnSpcReduction="20000"/>
          </a:bodyPr>
          <a:lstStyle/>
          <a:p>
            <a:pPr algn="l">
              <a:defRPr sz="36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lang="en-US" sz="36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Balance improvement – economy, health &amp; Education</a:t>
            </a:r>
            <a:endParaRPr sz="3600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F4374091-C3C1-406D-8DBC-6B42FEB79920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E3991A0A-7950-4D4E-A728-E7FD601E9F3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answer-Answer: Burundi rank">
            <a:extLst>
              <a:ext uri="{FF2B5EF4-FFF2-40B4-BE49-F238E27FC236}">
                <a16:creationId xmlns:a16="http://schemas.microsoft.com/office/drawing/2014/main" id="{617D934B-ED47-4797-B59B-127F4F9DA755}"/>
              </a:ext>
            </a:extLst>
          </p:cNvPr>
          <p:cNvSpPr>
            <a:spLocks noGrp="1"/>
          </p:cNvSpPr>
          <p:nvPr/>
        </p:nvSpPr>
        <p:spPr>
          <a:xfrm>
            <a:off x="590550" y="1228725"/>
            <a:ext cx="11049000" cy="552450"/>
          </a:xfrm>
          <a:prstGeom prst="roundRect">
            <a:avLst>
              <a:gd name="adj" fmla="val 13793"/>
            </a:avLst>
          </a:prstGeom>
          <a:solidFill>
            <a:srgbClr val="EEF0FA"/>
          </a:solidFill>
          <a:ln w="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answer-text-Answer: Burundi rank">
            <a:extLst>
              <a:ext uri="{FF2B5EF4-FFF2-40B4-BE49-F238E27FC236}">
                <a16:creationId xmlns:a16="http://schemas.microsoft.com/office/drawing/2014/main" id="{3C0CF674-6BAD-424A-B25A-B736AB46C416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10706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77500" lnSpcReduction="20000"/>
          </a:bodyPr>
          <a:lstStyle/>
          <a:p>
            <a:pPr>
              <a:defRPr sz="187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Answer: </a:t>
            </a:r>
            <a:r>
              <a:rPr lang="en-US" sz="18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(</a:t>
            </a:r>
            <a:r>
              <a:rPr lang="en-GB" sz="20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Burundi leads on balanced improvement</a:t>
            </a:r>
            <a:r>
              <a:rPr lang="en-US" sz="18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)</a:t>
            </a:r>
            <a:r>
              <a:rPr sz="1875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Burundi ranks first on our three-part balance score with 45.4 points.</a:t>
            </a:r>
          </a:p>
        </p:txBody>
      </p:sp>
      <p:sp>
        <p:nvSpPr>
          <p:cNvPr id="11" name="balanced-heatmap-frame">
            <a:extLst>
              <a:ext uri="{FF2B5EF4-FFF2-40B4-BE49-F238E27FC236}">
                <a16:creationId xmlns:a16="http://schemas.microsoft.com/office/drawing/2014/main" id="{262CEBBD-E594-4BD3-B324-1FDFCDDF8574}"/>
              </a:ext>
            </a:extLst>
          </p:cNvPr>
          <p:cNvSpPr>
            <a:spLocks noGrp="1"/>
          </p:cNvSpPr>
          <p:nvPr/>
        </p:nvSpPr>
        <p:spPr>
          <a:xfrm>
            <a:off x="590550" y="1981200"/>
            <a:ext cx="762000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04809" y="2095500"/>
            <a:ext cx="5591481" cy="3810000"/>
          </a:xfrm>
          <a:prstGeom prst="rect">
            <a:avLst/>
          </a:prstGeom>
        </p:spPr>
      </p:pic>
      <p:sp>
        <p:nvSpPr>
          <p:cNvPr id="13" name="balanced score-card">
            <a:extLst>
              <a:ext uri="{FF2B5EF4-FFF2-40B4-BE49-F238E27FC236}">
                <a16:creationId xmlns:a16="http://schemas.microsoft.com/office/drawing/2014/main" id="{2D7D0D58-790A-4D77-B571-B80145D32629}"/>
              </a:ext>
            </a:extLst>
          </p:cNvPr>
          <p:cNvSpPr>
            <a:spLocks noGrp="1"/>
          </p:cNvSpPr>
          <p:nvPr/>
        </p:nvSpPr>
        <p:spPr>
          <a:xfrm>
            <a:off x="8477250" y="1981200"/>
            <a:ext cx="31242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balanced score-accent">
            <a:extLst>
              <a:ext uri="{FF2B5EF4-FFF2-40B4-BE49-F238E27FC236}">
                <a16:creationId xmlns:a16="http://schemas.microsoft.com/office/drawing/2014/main" id="{54805FEE-319B-407E-8A52-0143EF000AC2}"/>
              </a:ext>
            </a:extLst>
          </p:cNvPr>
          <p:cNvSpPr>
            <a:spLocks noGrp="1"/>
          </p:cNvSpPr>
          <p:nvPr/>
        </p:nvSpPr>
        <p:spPr>
          <a:xfrm>
            <a:off x="8477250" y="1981200"/>
            <a:ext cx="3124200" cy="66675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balanced score-value">
            <a:extLst>
              <a:ext uri="{FF2B5EF4-FFF2-40B4-BE49-F238E27FC236}">
                <a16:creationId xmlns:a16="http://schemas.microsoft.com/office/drawing/2014/main" id="{86CD2BAE-6406-47D1-88EC-45B101FA2EA8}"/>
              </a:ext>
            </a:extLst>
          </p:cNvPr>
          <p:cNvSpPr>
            <a:spLocks noGrp="1"/>
          </p:cNvSpPr>
          <p:nvPr/>
        </p:nvSpPr>
        <p:spPr>
          <a:xfrm>
            <a:off x="8648700" y="2152650"/>
            <a:ext cx="2781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45.4</a:t>
            </a:r>
          </a:p>
        </p:txBody>
      </p:sp>
      <p:sp>
        <p:nvSpPr>
          <p:cNvPr id="16" name="balanced score-label">
            <a:extLst>
              <a:ext uri="{FF2B5EF4-FFF2-40B4-BE49-F238E27FC236}">
                <a16:creationId xmlns:a16="http://schemas.microsoft.com/office/drawing/2014/main" id="{AE5EB82B-1024-4130-A805-34D510F6A923}"/>
              </a:ext>
            </a:extLst>
          </p:cNvPr>
          <p:cNvSpPr>
            <a:spLocks noGrp="1"/>
          </p:cNvSpPr>
          <p:nvPr/>
        </p:nvSpPr>
        <p:spPr>
          <a:xfrm>
            <a:off x="8648700" y="2667000"/>
            <a:ext cx="278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balanced score</a:t>
            </a:r>
          </a:p>
        </p:txBody>
      </p:sp>
      <p:sp>
        <p:nvSpPr>
          <p:cNvPr id="17" name="balanced score-note">
            <a:extLst>
              <a:ext uri="{FF2B5EF4-FFF2-40B4-BE49-F238E27FC236}">
                <a16:creationId xmlns:a16="http://schemas.microsoft.com/office/drawing/2014/main" id="{5850E5C8-1F79-42FE-AF56-227BA0C9133B}"/>
              </a:ext>
            </a:extLst>
          </p:cNvPr>
          <p:cNvSpPr>
            <a:spLocks noGrp="1"/>
          </p:cNvSpPr>
          <p:nvPr/>
        </p:nvSpPr>
        <p:spPr>
          <a:xfrm>
            <a:off x="8648700" y="3228975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46D"/>
                </a:solidFill>
                <a:latin typeface="Aptos"/>
                <a:ea typeface="Aptos"/>
                <a:cs typeface="Aptos"/>
              </a:rPr>
              <a:t>higher means more even progress</a:t>
            </a:r>
          </a:p>
        </p:txBody>
      </p:sp>
      <p:sp>
        <p:nvSpPr>
          <p:cNvPr id="18" name="q5-components">
            <a:extLst>
              <a:ext uri="{FF2B5EF4-FFF2-40B4-BE49-F238E27FC236}">
                <a16:creationId xmlns:a16="http://schemas.microsoft.com/office/drawing/2014/main" id="{7DA34E02-5264-498E-8569-EDE63676CC35}"/>
              </a:ext>
            </a:extLst>
          </p:cNvPr>
          <p:cNvSpPr>
            <a:spLocks noGrp="1"/>
          </p:cNvSpPr>
          <p:nvPr/>
        </p:nvSpPr>
        <p:spPr>
          <a:xfrm>
            <a:off x="8477250" y="3762375"/>
            <a:ext cx="3124200" cy="2276475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q5-title">
            <a:extLst>
              <a:ext uri="{FF2B5EF4-FFF2-40B4-BE49-F238E27FC236}">
                <a16:creationId xmlns:a16="http://schemas.microsoft.com/office/drawing/2014/main" id="{CBB862D7-B72D-46CC-A0F5-2A13E1C2E9BC}"/>
              </a:ext>
            </a:extLst>
          </p:cNvPr>
          <p:cNvSpPr>
            <a:spLocks noGrp="1"/>
          </p:cNvSpPr>
          <p:nvPr/>
        </p:nvSpPr>
        <p:spPr>
          <a:xfrm>
            <a:off x="8686800" y="3962400"/>
            <a:ext cx="2705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Burundi’s components</a:t>
            </a:r>
          </a:p>
        </p:txBody>
      </p:sp>
      <p:sp>
        <p:nvSpPr>
          <p:cNvPr id="20" name="q5-components-text">
            <a:extLst>
              <a:ext uri="{FF2B5EF4-FFF2-40B4-BE49-F238E27FC236}">
                <a16:creationId xmlns:a16="http://schemas.microsoft.com/office/drawing/2014/main" id="{C78086E7-DE18-4A68-B536-DF2414740AB3}"/>
              </a:ext>
            </a:extLst>
          </p:cNvPr>
          <p:cNvSpPr>
            <a:spLocks noGrp="1"/>
          </p:cNvSpPr>
          <p:nvPr/>
        </p:nvSpPr>
        <p:spPr>
          <a:xfrm>
            <a:off x="8686800" y="4429125"/>
            <a:ext cx="1905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Economy   45.4</a:t>
            </a:r>
          </a:p>
          <a:p>
            <a:pPr algn="l">
              <a:defRPr sz="17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Health      58.4</a:t>
            </a:r>
          </a:p>
          <a:p>
            <a:pPr algn="l">
              <a:defRPr sz="17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Education  48.9</a:t>
            </a:r>
          </a:p>
        </p:txBody>
      </p:sp>
      <p:sp>
        <p:nvSpPr>
          <p:cNvPr id="21" name="q5-note">
            <a:extLst>
              <a:ext uri="{FF2B5EF4-FFF2-40B4-BE49-F238E27FC236}">
                <a16:creationId xmlns:a16="http://schemas.microsoft.com/office/drawing/2014/main" id="{CE759BDD-FA06-4273-BB59-57D83C30501F}"/>
              </a:ext>
            </a:extLst>
          </p:cNvPr>
          <p:cNvSpPr>
            <a:spLocks noGrp="1"/>
          </p:cNvSpPr>
          <p:nvPr/>
        </p:nvSpPr>
        <p:spPr>
          <a:xfrm>
            <a:off x="8686800" y="556260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5735"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endParaRPr sz="1275" b="1" dirty="0">
              <a:solidFill>
                <a:srgbClr val="E52D2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30381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op-rule-gold">
            <a:extLst>
              <a:ext uri="{FF2B5EF4-FFF2-40B4-BE49-F238E27FC236}">
                <a16:creationId xmlns:a16="http://schemas.microsoft.com/office/drawing/2014/main" id="{2B78BAFB-109A-4897-8011-D0CD76F1F1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2C18C663-28BD-41FB-B8E3-841FC8400356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1D334D99-010B-4B12-9243-208E4C9E3D5D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186D9527-0E8A-4B5E-9AC4-D22E7196A64A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EXPECTATION 7 · POLICY RECOMMENDATIONS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78923A8D-16E6-46A5-AD28-E606A51BD394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011"/>
          </a:bodyPr>
          <a:lstStyle/>
          <a:p>
            <a:pPr algn="l">
              <a:defRPr sz="36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Five evidence-based actions for the EAC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BF1CB472-BBF3-4C32-B469-A8CE9242B72F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D05FF30D-25FB-4DD8-848E-B38295B73D07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policy-evidence-head">
            <a:extLst>
              <a:ext uri="{FF2B5EF4-FFF2-40B4-BE49-F238E27FC236}">
                <a16:creationId xmlns:a16="http://schemas.microsoft.com/office/drawing/2014/main" id="{E559A541-FD8A-4C27-A0AE-12F94E332BF7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0" name="policy-action-head">
            <a:extLst>
              <a:ext uri="{FF2B5EF4-FFF2-40B4-BE49-F238E27FC236}">
                <a16:creationId xmlns:a16="http://schemas.microsoft.com/office/drawing/2014/main" id="{1BBADD80-6654-4608-9BD0-99F195B05BE3}"/>
              </a:ext>
            </a:extLst>
          </p:cNvPr>
          <p:cNvSpPr>
            <a:spLocks noGrp="1"/>
          </p:cNvSpPr>
          <p:nvPr/>
        </p:nvSpPr>
        <p:spPr>
          <a:xfrm>
            <a:off x="4724400" y="1304925"/>
            <a:ext cx="590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Recommended EAC action</a:t>
            </a:r>
          </a:p>
        </p:txBody>
      </p:sp>
      <p:sp>
        <p:nvSpPr>
          <p:cNvPr id="11" name="policy-row-0">
            <a:extLst>
              <a:ext uri="{FF2B5EF4-FFF2-40B4-BE49-F238E27FC236}">
                <a16:creationId xmlns:a16="http://schemas.microsoft.com/office/drawing/2014/main" id="{6654D3D9-664B-4F99-A1E4-92D1FA59A762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11010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policy-num-0">
            <a:extLst>
              <a:ext uri="{FF2B5EF4-FFF2-40B4-BE49-F238E27FC236}">
                <a16:creationId xmlns:a16="http://schemas.microsoft.com/office/drawing/2014/main" id="{62592E9B-F375-4894-B840-A5CD711D2DBC}"/>
              </a:ext>
            </a:extLst>
          </p:cNvPr>
          <p:cNvSpPr>
            <a:spLocks noGrp="1"/>
          </p:cNvSpPr>
          <p:nvPr/>
        </p:nvSpPr>
        <p:spPr>
          <a:xfrm>
            <a:off x="742950" y="1857375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796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96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policy-evidence-0">
            <a:extLst>
              <a:ext uri="{FF2B5EF4-FFF2-40B4-BE49-F238E27FC236}">
                <a16:creationId xmlns:a16="http://schemas.microsoft.com/office/drawing/2014/main" id="{919F7FF3-CDA4-474F-A876-6538CB680A9F}"/>
              </a:ext>
            </a:extLst>
          </p:cNvPr>
          <p:cNvSpPr>
            <a:spLocks noGrp="1"/>
          </p:cNvSpPr>
          <p:nvPr/>
        </p:nvSpPr>
        <p:spPr>
          <a:xfrm>
            <a:off x="1219200" y="1790700"/>
            <a:ext cx="3143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0 of 8 countries matched GDP and life-expectancy rates.</a:t>
            </a:r>
          </a:p>
        </p:txBody>
      </p:sp>
      <p:sp>
        <p:nvSpPr>
          <p:cNvPr id="14" name="policy-action-0">
            <a:extLst>
              <a:ext uri="{FF2B5EF4-FFF2-40B4-BE49-F238E27FC236}">
                <a16:creationId xmlns:a16="http://schemas.microsoft.com/office/drawing/2014/main" id="{B771B76A-87FF-4454-8AC3-FC2EBF5DB323}"/>
              </a:ext>
            </a:extLst>
          </p:cNvPr>
          <p:cNvSpPr>
            <a:spLocks noGrp="1"/>
          </p:cNvSpPr>
          <p:nvPr/>
        </p:nvSpPr>
        <p:spPr>
          <a:xfrm>
            <a:off x="4724400" y="1790700"/>
            <a:ext cx="657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848A2"/>
                </a:solidFill>
                <a:latin typeface="Aptos"/>
                <a:ea typeface="Aptos"/>
                <a:cs typeface="Aptos"/>
              </a:rPr>
              <a:t>Attach clear health targets and budgets to regional growth programmes.</a:t>
            </a:r>
          </a:p>
        </p:txBody>
      </p:sp>
      <p:sp>
        <p:nvSpPr>
          <p:cNvPr id="15" name="policy-row-1">
            <a:extLst>
              <a:ext uri="{FF2B5EF4-FFF2-40B4-BE49-F238E27FC236}">
                <a16:creationId xmlns:a16="http://schemas.microsoft.com/office/drawing/2014/main" id="{5205067A-4273-4B86-BA30-A8EDC8BD4E19}"/>
              </a:ext>
            </a:extLst>
          </p:cNvPr>
          <p:cNvSpPr>
            <a:spLocks noGrp="1"/>
          </p:cNvSpPr>
          <p:nvPr/>
        </p:nvSpPr>
        <p:spPr>
          <a:xfrm>
            <a:off x="590550" y="2543175"/>
            <a:ext cx="11010900" cy="723900"/>
          </a:xfrm>
          <a:prstGeom prst="roundRect">
            <a:avLst>
              <a:gd name="adj" fmla="val 10526"/>
            </a:avLst>
          </a:prstGeom>
          <a:solidFill>
            <a:srgbClr val="F5F6FC"/>
          </a:solidFill>
          <a:ln w="0">
            <a:solidFill>
              <a:srgbClr val="F5F6F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policy-num-1">
            <a:extLst>
              <a:ext uri="{FF2B5EF4-FFF2-40B4-BE49-F238E27FC236}">
                <a16:creationId xmlns:a16="http://schemas.microsoft.com/office/drawing/2014/main" id="{53510EA1-0054-43AE-8314-88F874DEA88A}"/>
              </a:ext>
            </a:extLst>
          </p:cNvPr>
          <p:cNvSpPr>
            <a:spLocks noGrp="1"/>
          </p:cNvSpPr>
          <p:nvPr/>
        </p:nvSpPr>
        <p:spPr>
          <a:xfrm>
            <a:off x="742950" y="2733675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796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96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policy-evidence-1">
            <a:extLst>
              <a:ext uri="{FF2B5EF4-FFF2-40B4-BE49-F238E27FC236}">
                <a16:creationId xmlns:a16="http://schemas.microsoft.com/office/drawing/2014/main" id="{A8F6B1E1-2872-4EAD-9117-65E3C84331BD}"/>
              </a:ext>
            </a:extLst>
          </p:cNvPr>
          <p:cNvSpPr>
            <a:spLocks noGrp="1"/>
          </p:cNvSpPr>
          <p:nvPr/>
        </p:nvSpPr>
        <p:spPr>
          <a:xfrm>
            <a:off x="1219200" y="2667000"/>
            <a:ext cx="3143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Secondary enrolment was only 43.3% complete before cleaning.</a:t>
            </a:r>
          </a:p>
        </p:txBody>
      </p:sp>
      <p:sp>
        <p:nvSpPr>
          <p:cNvPr id="18" name="policy-action-1">
            <a:extLst>
              <a:ext uri="{FF2B5EF4-FFF2-40B4-BE49-F238E27FC236}">
                <a16:creationId xmlns:a16="http://schemas.microsoft.com/office/drawing/2014/main" id="{5D340D8D-099B-406D-B699-B59DA85AA179}"/>
              </a:ext>
            </a:extLst>
          </p:cNvPr>
          <p:cNvSpPr>
            <a:spLocks noGrp="1"/>
          </p:cNvSpPr>
          <p:nvPr/>
        </p:nvSpPr>
        <p:spPr>
          <a:xfrm>
            <a:off x="4724400" y="2667000"/>
            <a:ext cx="657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848A2"/>
                </a:solidFill>
                <a:latin typeface="Aptos"/>
                <a:ea typeface="Aptos"/>
                <a:cs typeface="Aptos"/>
              </a:rPr>
              <a:t>Adopt one annual EAC education reporting standard with public completeness checks.</a:t>
            </a:r>
          </a:p>
        </p:txBody>
      </p:sp>
      <p:sp>
        <p:nvSpPr>
          <p:cNvPr id="19" name="policy-row-2">
            <a:extLst>
              <a:ext uri="{FF2B5EF4-FFF2-40B4-BE49-F238E27FC236}">
                <a16:creationId xmlns:a16="http://schemas.microsoft.com/office/drawing/2014/main" id="{B04AA0FF-7BE7-45AE-8E3A-EC073ECFD935}"/>
              </a:ext>
            </a:extLst>
          </p:cNvPr>
          <p:cNvSpPr>
            <a:spLocks noGrp="1"/>
          </p:cNvSpPr>
          <p:nvPr/>
        </p:nvSpPr>
        <p:spPr>
          <a:xfrm>
            <a:off x="590550" y="3419475"/>
            <a:ext cx="11010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policy-num-2">
            <a:extLst>
              <a:ext uri="{FF2B5EF4-FFF2-40B4-BE49-F238E27FC236}">
                <a16:creationId xmlns:a16="http://schemas.microsoft.com/office/drawing/2014/main" id="{D02026F2-BE4A-4ADA-ACE2-F5C584E56859}"/>
              </a:ext>
            </a:extLst>
          </p:cNvPr>
          <p:cNvSpPr>
            <a:spLocks noGrp="1"/>
          </p:cNvSpPr>
          <p:nvPr/>
        </p:nvSpPr>
        <p:spPr>
          <a:xfrm>
            <a:off x="742950" y="3609975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796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96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policy-evidence-2">
            <a:extLst>
              <a:ext uri="{FF2B5EF4-FFF2-40B4-BE49-F238E27FC236}">
                <a16:creationId xmlns:a16="http://schemas.microsoft.com/office/drawing/2014/main" id="{64A2B2EF-1659-4E50-86E8-115D15580F0B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3143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South Sudan’s +110.9 pp result has 3 reported and 12 imputed years.</a:t>
            </a:r>
          </a:p>
        </p:txBody>
      </p:sp>
      <p:sp>
        <p:nvSpPr>
          <p:cNvPr id="22" name="policy-action-2">
            <a:extLst>
              <a:ext uri="{FF2B5EF4-FFF2-40B4-BE49-F238E27FC236}">
                <a16:creationId xmlns:a16="http://schemas.microsoft.com/office/drawing/2014/main" id="{D669521A-8EB6-4619-BB2D-74FFE12BD20B}"/>
              </a:ext>
            </a:extLst>
          </p:cNvPr>
          <p:cNvSpPr>
            <a:spLocks noGrp="1"/>
          </p:cNvSpPr>
          <p:nvPr/>
        </p:nvSpPr>
        <p:spPr>
          <a:xfrm>
            <a:off x="4724400" y="3543300"/>
            <a:ext cx="657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848A2"/>
                </a:solidFill>
                <a:latin typeface="Aptos"/>
                <a:ea typeface="Aptos"/>
                <a:cs typeface="Aptos"/>
              </a:rPr>
              <a:t>Validate the series before copying any apparent education success.</a:t>
            </a:r>
          </a:p>
        </p:txBody>
      </p:sp>
      <p:sp>
        <p:nvSpPr>
          <p:cNvPr id="23" name="policy-row-3">
            <a:extLst>
              <a:ext uri="{FF2B5EF4-FFF2-40B4-BE49-F238E27FC236}">
                <a16:creationId xmlns:a16="http://schemas.microsoft.com/office/drawing/2014/main" id="{0B9CD73E-09AB-4F4E-96C5-EDD1875AA621}"/>
              </a:ext>
            </a:extLst>
          </p:cNvPr>
          <p:cNvSpPr>
            <a:spLocks noGrp="1"/>
          </p:cNvSpPr>
          <p:nvPr/>
        </p:nvSpPr>
        <p:spPr>
          <a:xfrm>
            <a:off x="590550" y="4295775"/>
            <a:ext cx="11010900" cy="723900"/>
          </a:xfrm>
          <a:prstGeom prst="roundRect">
            <a:avLst>
              <a:gd name="adj" fmla="val 10526"/>
            </a:avLst>
          </a:prstGeom>
          <a:solidFill>
            <a:srgbClr val="F5F6FC"/>
          </a:solidFill>
          <a:ln w="0">
            <a:solidFill>
              <a:srgbClr val="F5F6F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policy-num-3">
            <a:extLst>
              <a:ext uri="{FF2B5EF4-FFF2-40B4-BE49-F238E27FC236}">
                <a16:creationId xmlns:a16="http://schemas.microsoft.com/office/drawing/2014/main" id="{F40345BF-7234-4AB3-8A93-20B9268A8B1B}"/>
              </a:ext>
            </a:extLst>
          </p:cNvPr>
          <p:cNvSpPr>
            <a:spLocks noGrp="1"/>
          </p:cNvSpPr>
          <p:nvPr/>
        </p:nvSpPr>
        <p:spPr>
          <a:xfrm>
            <a:off x="742950" y="4486275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796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96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policy-evidence-3">
            <a:extLst>
              <a:ext uri="{FF2B5EF4-FFF2-40B4-BE49-F238E27FC236}">
                <a16:creationId xmlns:a16="http://schemas.microsoft.com/office/drawing/2014/main" id="{957165FB-E8C3-4559-978B-31AC3CF2C1B9}"/>
              </a:ext>
            </a:extLst>
          </p:cNvPr>
          <p:cNvSpPr>
            <a:spLocks noGrp="1"/>
          </p:cNvSpPr>
          <p:nvPr/>
        </p:nvSpPr>
        <p:spPr>
          <a:xfrm>
            <a:off x="1219200" y="4419600"/>
            <a:ext cx="3143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01D1C"/>
                </a:solidFill>
                <a:latin typeface="Aptos"/>
                <a:ea typeface="Aptos"/>
                <a:cs typeface="Aptos"/>
              </a:rPr>
              <a:t>Burundi leads balance at 45.4; economy is its weakest component.</a:t>
            </a:r>
          </a:p>
        </p:txBody>
      </p:sp>
      <p:sp>
        <p:nvSpPr>
          <p:cNvPr id="26" name="policy-action-3">
            <a:extLst>
              <a:ext uri="{FF2B5EF4-FFF2-40B4-BE49-F238E27FC236}">
                <a16:creationId xmlns:a16="http://schemas.microsoft.com/office/drawing/2014/main" id="{A54EE245-4C50-4034-8D95-0975FBC47D46}"/>
              </a:ext>
            </a:extLst>
          </p:cNvPr>
          <p:cNvSpPr>
            <a:spLocks noGrp="1"/>
          </p:cNvSpPr>
          <p:nvPr/>
        </p:nvSpPr>
        <p:spPr>
          <a:xfrm>
            <a:off x="4724400" y="4419600"/>
            <a:ext cx="657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848A2"/>
                </a:solidFill>
                <a:latin typeface="Aptos"/>
                <a:ea typeface="Aptos"/>
                <a:cs typeface="Aptos"/>
              </a:rPr>
              <a:t>Use a three-pillar scorecard so one strong area cannot hide another weak area.</a:t>
            </a:r>
          </a:p>
        </p:txBody>
      </p:sp>
      <p:sp>
        <p:nvSpPr>
          <p:cNvPr id="27" name="policy-row-4">
            <a:extLst>
              <a:ext uri="{FF2B5EF4-FFF2-40B4-BE49-F238E27FC236}">
                <a16:creationId xmlns:a16="http://schemas.microsoft.com/office/drawing/2014/main" id="{15AF9504-17ED-4163-98A1-15401EDF761D}"/>
              </a:ext>
            </a:extLst>
          </p:cNvPr>
          <p:cNvSpPr>
            <a:spLocks noGrp="1"/>
          </p:cNvSpPr>
          <p:nvPr/>
        </p:nvSpPr>
        <p:spPr>
          <a:xfrm>
            <a:off x="590550" y="5172075"/>
            <a:ext cx="110109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policy-num-4">
            <a:extLst>
              <a:ext uri="{FF2B5EF4-FFF2-40B4-BE49-F238E27FC236}">
                <a16:creationId xmlns:a16="http://schemas.microsoft.com/office/drawing/2014/main" id="{5172F203-9B2F-4E34-BA41-08B8B7E3899D}"/>
              </a:ext>
            </a:extLst>
          </p:cNvPr>
          <p:cNvSpPr>
            <a:spLocks noGrp="1"/>
          </p:cNvSpPr>
          <p:nvPr/>
        </p:nvSpPr>
        <p:spPr>
          <a:xfrm>
            <a:off x="742950" y="5362575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C796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96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policy-evidence-4">
            <a:extLst>
              <a:ext uri="{FF2B5EF4-FFF2-40B4-BE49-F238E27FC236}">
                <a16:creationId xmlns:a16="http://schemas.microsoft.com/office/drawing/2014/main" id="{6B164D29-2052-4EA8-9C3D-90DAFDB55419}"/>
              </a:ext>
            </a:extLst>
          </p:cNvPr>
          <p:cNvSpPr>
            <a:spLocks noGrp="1"/>
          </p:cNvSpPr>
          <p:nvPr/>
        </p:nvSpPr>
        <p:spPr>
          <a:xfrm>
            <a:off x="1219200" y="5295900"/>
            <a:ext cx="3143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950"/>
          </a:bodyPr>
          <a:lstStyle/>
          <a:p>
            <a:pPr algn="l">
              <a:defRPr sz="1425" b="1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GDP–life conclusions change across complete and reported-only models.</a:t>
            </a:r>
          </a:p>
        </p:txBody>
      </p:sp>
      <p:sp>
        <p:nvSpPr>
          <p:cNvPr id="30" name="policy-action-4">
            <a:extLst>
              <a:ext uri="{FF2B5EF4-FFF2-40B4-BE49-F238E27FC236}">
                <a16:creationId xmlns:a16="http://schemas.microsoft.com/office/drawing/2014/main" id="{0914D47D-C19D-48B1-89DC-376DAAF55222}"/>
              </a:ext>
            </a:extLst>
          </p:cNvPr>
          <p:cNvSpPr>
            <a:spLocks noGrp="1"/>
          </p:cNvSpPr>
          <p:nvPr/>
        </p:nvSpPr>
        <p:spPr>
          <a:xfrm>
            <a:off x="4724400" y="5295900"/>
            <a:ext cx="657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848A2"/>
                </a:solidFill>
                <a:latin typeface="Aptos"/>
                <a:ea typeface="Aptos"/>
                <a:cs typeface="Aptos"/>
              </a:rPr>
              <a:t>Evaluate health and education policies directly instead of assuming GDP will improve them.</a:t>
            </a:r>
          </a:p>
        </p:txBody>
      </p:sp>
    </p:spTree>
    <p:extLst>
      <p:ext uri="{BB962C8B-B14F-4D97-AF65-F5344CB8AC3E}">
        <p14:creationId xmlns:p14="http://schemas.microsoft.com/office/powerpoint/2010/main" val="2144826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48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op-rule-gold">
            <a:extLst>
              <a:ext uri="{FF2B5EF4-FFF2-40B4-BE49-F238E27FC236}">
                <a16:creationId xmlns:a16="http://schemas.microsoft.com/office/drawing/2014/main" id="{08D32DCE-D568-4535-AB6C-CF33711791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07339FF0-B68A-41D9-97EA-9F2789449E95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014B6F79-6596-4A25-BB39-6DF8BCFFB83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E9C9C5A1-B2AB-432A-A2A6-4D33CD98600E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F4CE67"/>
                </a:solidFill>
                <a:latin typeface="Aptos"/>
                <a:ea typeface="Aptos"/>
                <a:cs typeface="Aptos"/>
              </a:rPr>
              <a:t>CLOSING </a:t>
            </a:r>
            <a:r>
              <a:rPr lang="en-US" sz="1275" b="1" dirty="0">
                <a:solidFill>
                  <a:srgbClr val="F4CE67"/>
                </a:solidFill>
                <a:latin typeface="Aptos"/>
                <a:ea typeface="Aptos"/>
                <a:cs typeface="Aptos"/>
              </a:rPr>
              <a:t>REMARKS</a:t>
            </a:r>
            <a:endParaRPr sz="1275" b="1" dirty="0">
              <a:solidFill>
                <a:srgbClr val="F4CE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29A1C402-5CD3-4238-8A6B-FFC5BD79C8E0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958"/>
          </a:bodyPr>
          <a:lstStyle/>
          <a:p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region’s progress is real</a:t>
            </a:r>
            <a:r>
              <a:rPr lang="en-US" sz="4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but uneven</a:t>
            </a:r>
          </a:p>
        </p:txBody>
      </p:sp>
      <p:sp>
        <p:nvSpPr>
          <p:cNvPr id="6" name="logo-clear-space">
            <a:extLst>
              <a:ext uri="{FF2B5EF4-FFF2-40B4-BE49-F238E27FC236}">
                <a16:creationId xmlns:a16="http://schemas.microsoft.com/office/drawing/2014/main" id="{B417FA98-33F0-4208-8A8C-94914B04B8A4}"/>
              </a:ext>
            </a:extLst>
          </p:cNvPr>
          <p:cNvSpPr>
            <a:spLocks noGrp="1"/>
          </p:cNvSpPr>
          <p:nvPr/>
        </p:nvSpPr>
        <p:spPr>
          <a:xfrm>
            <a:off x="9925050" y="133350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8" name="footer-label">
            <a:extLst>
              <a:ext uri="{FF2B5EF4-FFF2-40B4-BE49-F238E27FC236}">
                <a16:creationId xmlns:a16="http://schemas.microsoft.com/office/drawing/2014/main" id="{7328BC92-47A8-4C15-A814-AED2C739B5E1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9" name="footer-number">
            <a:extLst>
              <a:ext uri="{FF2B5EF4-FFF2-40B4-BE49-F238E27FC236}">
                <a16:creationId xmlns:a16="http://schemas.microsoft.com/office/drawing/2014/main" id="{6B7A2771-1C30-4BD5-987D-F30E758A62D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0" name="synthesis-card-0">
            <a:extLst>
              <a:ext uri="{FF2B5EF4-FFF2-40B4-BE49-F238E27FC236}">
                <a16:creationId xmlns:a16="http://schemas.microsoft.com/office/drawing/2014/main" id="{581D0DF4-3436-4900-8619-F2465E2DADE4}"/>
              </a:ext>
            </a:extLst>
          </p:cNvPr>
          <p:cNvSpPr>
            <a:spLocks noGrp="1"/>
          </p:cNvSpPr>
          <p:nvPr/>
        </p:nvSpPr>
        <p:spPr>
          <a:xfrm>
            <a:off x="590550" y="1581150"/>
            <a:ext cx="3333750" cy="2457450"/>
          </a:xfrm>
          <a:prstGeom prst="roundRect">
            <a:avLst>
              <a:gd name="adj" fmla="val 3101"/>
            </a:avLst>
          </a:prstGeom>
          <a:solidFill>
            <a:srgbClr val="2F3B84"/>
          </a:solidFill>
          <a:ln w="9525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synthesis-label-0">
            <a:extLst>
              <a:ext uri="{FF2B5EF4-FFF2-40B4-BE49-F238E27FC236}">
                <a16:creationId xmlns:a16="http://schemas.microsoft.com/office/drawing/2014/main" id="{A1FEF1F1-AB3D-45B7-A9D0-7B0A19305A74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2914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Fastest income growth</a:t>
            </a:r>
          </a:p>
        </p:txBody>
      </p:sp>
      <p:sp>
        <p:nvSpPr>
          <p:cNvPr id="12" name="synthesis-value-0">
            <a:extLst>
              <a:ext uri="{FF2B5EF4-FFF2-40B4-BE49-F238E27FC236}">
                <a16:creationId xmlns:a16="http://schemas.microsoft.com/office/drawing/2014/main" id="{C8E867E6-7A81-4301-BE6E-B245A299AA78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2914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Rwanda</a:t>
            </a:r>
          </a:p>
        </p:txBody>
      </p:sp>
      <p:sp>
        <p:nvSpPr>
          <p:cNvPr id="13" name="synthesis-note-0">
            <a:extLst>
              <a:ext uri="{FF2B5EF4-FFF2-40B4-BE49-F238E27FC236}">
                <a16:creationId xmlns:a16="http://schemas.microsoft.com/office/drawing/2014/main" id="{F19B70EE-3EC5-4941-AE30-9C050D0A74C2}"/>
              </a:ext>
            </a:extLst>
          </p:cNvPr>
          <p:cNvSpPr>
            <a:spLocks noGrp="1"/>
          </p:cNvSpPr>
          <p:nvPr/>
        </p:nvSpPr>
        <p:spPr>
          <a:xfrm>
            <a:off x="800100" y="3209925"/>
            <a:ext cx="2914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+80.0% real GDP/person</a:t>
            </a:r>
          </a:p>
        </p:txBody>
      </p:sp>
      <p:sp>
        <p:nvSpPr>
          <p:cNvPr id="14" name="synthesis-card-1">
            <a:extLst>
              <a:ext uri="{FF2B5EF4-FFF2-40B4-BE49-F238E27FC236}">
                <a16:creationId xmlns:a16="http://schemas.microsoft.com/office/drawing/2014/main" id="{68AB0357-C4F3-43F2-BC1F-8958E03456D1}"/>
              </a:ext>
            </a:extLst>
          </p:cNvPr>
          <p:cNvSpPr>
            <a:spLocks noGrp="1"/>
          </p:cNvSpPr>
          <p:nvPr/>
        </p:nvSpPr>
        <p:spPr>
          <a:xfrm>
            <a:off x="4267200" y="1581150"/>
            <a:ext cx="3333750" cy="2457450"/>
          </a:xfrm>
          <a:prstGeom prst="roundRect">
            <a:avLst>
              <a:gd name="adj" fmla="val 3101"/>
            </a:avLst>
          </a:prstGeom>
          <a:solidFill>
            <a:srgbClr val="2F3B84"/>
          </a:solidFill>
          <a:ln w="9525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ynthesis-label-1">
            <a:extLst>
              <a:ext uri="{FF2B5EF4-FFF2-40B4-BE49-F238E27FC236}">
                <a16:creationId xmlns:a16="http://schemas.microsoft.com/office/drawing/2014/main" id="{92E0B76A-CB06-4AE8-88AC-D525479219BF}"/>
              </a:ext>
            </a:extLst>
          </p:cNvPr>
          <p:cNvSpPr>
            <a:spLocks noGrp="1"/>
          </p:cNvSpPr>
          <p:nvPr/>
        </p:nvSpPr>
        <p:spPr>
          <a:xfrm>
            <a:off x="4476750" y="1790700"/>
            <a:ext cx="2914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Most balanced progress</a:t>
            </a:r>
          </a:p>
        </p:txBody>
      </p:sp>
      <p:sp>
        <p:nvSpPr>
          <p:cNvPr id="16" name="synthesis-value-1">
            <a:extLst>
              <a:ext uri="{FF2B5EF4-FFF2-40B4-BE49-F238E27FC236}">
                <a16:creationId xmlns:a16="http://schemas.microsoft.com/office/drawing/2014/main" id="{9E0CDB44-0DEC-4229-971C-9F22AEA2748A}"/>
              </a:ext>
            </a:extLst>
          </p:cNvPr>
          <p:cNvSpPr>
            <a:spLocks noGrp="1"/>
          </p:cNvSpPr>
          <p:nvPr/>
        </p:nvSpPr>
        <p:spPr>
          <a:xfrm>
            <a:off x="4476750" y="2286000"/>
            <a:ext cx="2914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Burundi</a:t>
            </a:r>
          </a:p>
        </p:txBody>
      </p:sp>
      <p:sp>
        <p:nvSpPr>
          <p:cNvPr id="17" name="synthesis-note-1">
            <a:extLst>
              <a:ext uri="{FF2B5EF4-FFF2-40B4-BE49-F238E27FC236}">
                <a16:creationId xmlns:a16="http://schemas.microsoft.com/office/drawing/2014/main" id="{D845C08D-1A68-475A-8935-F04105F4FAE4}"/>
              </a:ext>
            </a:extLst>
          </p:cNvPr>
          <p:cNvSpPr>
            <a:spLocks noGrp="1"/>
          </p:cNvSpPr>
          <p:nvPr/>
        </p:nvSpPr>
        <p:spPr>
          <a:xfrm>
            <a:off x="4476750" y="3209925"/>
            <a:ext cx="2914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45.4 on our three-part score</a:t>
            </a:r>
          </a:p>
        </p:txBody>
      </p:sp>
      <p:sp>
        <p:nvSpPr>
          <p:cNvPr id="18" name="synthesis-card-2">
            <a:extLst>
              <a:ext uri="{FF2B5EF4-FFF2-40B4-BE49-F238E27FC236}">
                <a16:creationId xmlns:a16="http://schemas.microsoft.com/office/drawing/2014/main" id="{4052A452-EA4C-4258-8960-4DCF671AD938}"/>
              </a:ext>
            </a:extLst>
          </p:cNvPr>
          <p:cNvSpPr>
            <a:spLocks noGrp="1"/>
          </p:cNvSpPr>
          <p:nvPr/>
        </p:nvSpPr>
        <p:spPr>
          <a:xfrm>
            <a:off x="7943850" y="1581150"/>
            <a:ext cx="3333750" cy="2457450"/>
          </a:xfrm>
          <a:prstGeom prst="roundRect">
            <a:avLst>
              <a:gd name="adj" fmla="val 3101"/>
            </a:avLst>
          </a:prstGeom>
          <a:solidFill>
            <a:srgbClr val="2F3B84"/>
          </a:solidFill>
          <a:ln w="9525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synthesis-label-2">
            <a:extLst>
              <a:ext uri="{FF2B5EF4-FFF2-40B4-BE49-F238E27FC236}">
                <a16:creationId xmlns:a16="http://schemas.microsoft.com/office/drawing/2014/main" id="{EE1825FC-6629-4D0A-938E-82625573C93F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2914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Most important warning</a:t>
            </a:r>
          </a:p>
        </p:txBody>
      </p:sp>
      <p:sp>
        <p:nvSpPr>
          <p:cNvPr id="20" name="synthesis-value-2">
            <a:extLst>
              <a:ext uri="{FF2B5EF4-FFF2-40B4-BE49-F238E27FC236}">
                <a16:creationId xmlns:a16="http://schemas.microsoft.com/office/drawing/2014/main" id="{04F137EA-8FA6-46F9-A803-D6CC76438CA0}"/>
              </a:ext>
            </a:extLst>
          </p:cNvPr>
          <p:cNvSpPr>
            <a:spLocks noGrp="1"/>
          </p:cNvSpPr>
          <p:nvPr/>
        </p:nvSpPr>
        <p:spPr>
          <a:xfrm>
            <a:off x="8153400" y="2286000"/>
            <a:ext cx="2914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5784" lnSpcReduction="10000"/>
          </a:bodyPr>
          <a:lstStyle/>
          <a:p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 depends on model</a:t>
            </a:r>
          </a:p>
        </p:txBody>
      </p:sp>
      <p:sp>
        <p:nvSpPr>
          <p:cNvPr id="21" name="synthesis-note-2">
            <a:extLst>
              <a:ext uri="{FF2B5EF4-FFF2-40B4-BE49-F238E27FC236}">
                <a16:creationId xmlns:a16="http://schemas.microsoft.com/office/drawing/2014/main" id="{62E8474F-8CB7-4749-A68A-8D28484CC23C}"/>
              </a:ext>
            </a:extLst>
          </p:cNvPr>
          <p:cNvSpPr>
            <a:spLocks noGrp="1"/>
          </p:cNvSpPr>
          <p:nvPr/>
        </p:nvSpPr>
        <p:spPr>
          <a:xfrm>
            <a:off x="8153400" y="3209925"/>
            <a:ext cx="2914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imputation and controls matter</a:t>
            </a:r>
          </a:p>
        </p:txBody>
      </p:sp>
      <p:sp>
        <p:nvSpPr>
          <p:cNvPr id="22" name="closing-card">
            <a:extLst>
              <a:ext uri="{FF2B5EF4-FFF2-40B4-BE49-F238E27FC236}">
                <a16:creationId xmlns:a16="http://schemas.microsoft.com/office/drawing/2014/main" id="{A4CFDE04-8D5F-442A-A695-F0864103BDD4}"/>
              </a:ext>
            </a:extLst>
          </p:cNvPr>
          <p:cNvSpPr>
            <a:spLocks noGrp="1"/>
          </p:cNvSpPr>
          <p:nvPr/>
        </p:nvSpPr>
        <p:spPr>
          <a:xfrm>
            <a:off x="590550" y="4476750"/>
            <a:ext cx="10687050" cy="1333500"/>
          </a:xfrm>
          <a:prstGeom prst="roundRect">
            <a:avLst>
              <a:gd name="adj" fmla="val 5714"/>
            </a:avLst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closing-label">
            <a:extLst>
              <a:ext uri="{FF2B5EF4-FFF2-40B4-BE49-F238E27FC236}">
                <a16:creationId xmlns:a16="http://schemas.microsoft.com/office/drawing/2014/main" id="{9935C032-5DAE-42F8-A6DC-EF658D8061A8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Client message</a:t>
            </a:r>
          </a:p>
        </p:txBody>
      </p:sp>
      <p:sp>
        <p:nvSpPr>
          <p:cNvPr id="24" name="closing-message">
            <a:extLst>
              <a:ext uri="{FF2B5EF4-FFF2-40B4-BE49-F238E27FC236}">
                <a16:creationId xmlns:a16="http://schemas.microsoft.com/office/drawing/2014/main" id="{082AF641-2DA8-4009-9784-7A634FFC46B5}"/>
              </a:ext>
            </a:extLst>
          </p:cNvPr>
          <p:cNvSpPr>
            <a:spLocks noGrp="1"/>
          </p:cNvSpPr>
          <p:nvPr/>
        </p:nvSpPr>
        <p:spPr>
          <a:xfrm>
            <a:off x="838200" y="5095875"/>
            <a:ext cx="1000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6405"/>
          </a:bodyPr>
          <a:lstStyle/>
          <a:p>
            <a:pPr algn="l">
              <a:defRPr sz="225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25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Track economic growth, health and education together</a:t>
            </a:r>
            <a:r>
              <a:rPr lang="en-US" sz="225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</a:t>
            </a:r>
            <a:r>
              <a:rPr sz="225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and fix the education data gap first.</a:t>
            </a:r>
          </a:p>
        </p:txBody>
      </p:sp>
    </p:spTree>
    <p:extLst>
      <p:ext uri="{BB962C8B-B14F-4D97-AF65-F5344CB8AC3E}">
        <p14:creationId xmlns:p14="http://schemas.microsoft.com/office/powerpoint/2010/main" val="1874475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rule-gold">
            <a:extLst>
              <a:ext uri="{FF2B5EF4-FFF2-40B4-BE49-F238E27FC236}">
                <a16:creationId xmlns:a16="http://schemas.microsoft.com/office/drawing/2014/main" id="{E3CC9F85-B848-4D9A-9A50-DECD891926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0A467AE8-1B29-4690-B9B5-2C03AD8D35CC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86FAA343-4C13-4701-8FAB-5EDAFA89CB58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F64993E5-296F-400D-B338-A3E624D8C45F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E52D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D2C"/>
                </a:solidFill>
                <a:latin typeface="Aptos"/>
                <a:ea typeface="Aptos"/>
                <a:cs typeface="Aptos"/>
              </a:rPr>
              <a:t>EXPECTATION 6 · INTERACTIVE DASHBOARD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C957C914-F1FA-4519-93D9-C9DBBDD9AD0E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3600" b="1" dirty="0" err="1">
                <a:solidFill>
                  <a:srgbClr val="3848A2"/>
                </a:solidFill>
                <a:latin typeface="Aptos"/>
                <a:ea typeface="Aptos"/>
                <a:cs typeface="Aptos"/>
              </a:rPr>
              <a:t>Streamlit</a:t>
            </a:r>
            <a:r>
              <a:rPr sz="36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3600" b="1" dirty="0">
                <a:solidFill>
                  <a:srgbClr val="3848A2"/>
                </a:solidFill>
                <a:latin typeface="Aptos"/>
                <a:ea typeface="Aptos"/>
                <a:cs typeface="Aptos"/>
              </a:rPr>
              <a:t>Dashboard Review</a:t>
            </a:r>
            <a:endParaRPr sz="3600" b="1" dirty="0">
              <a:solidFill>
                <a:srgbClr val="3848A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7" name="footer-label">
            <a:extLst>
              <a:ext uri="{FF2B5EF4-FFF2-40B4-BE49-F238E27FC236}">
                <a16:creationId xmlns:a16="http://schemas.microsoft.com/office/drawing/2014/main" id="{4941D297-16B3-4948-9673-ECDD17D99258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8" name="footer-number">
            <a:extLst>
              <a:ext uri="{FF2B5EF4-FFF2-40B4-BE49-F238E27FC236}">
                <a16:creationId xmlns:a16="http://schemas.microsoft.com/office/drawing/2014/main" id="{497BFF35-279E-4E8C-982A-46818A871B0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6464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646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dashboard-main-frame">
            <a:extLst>
              <a:ext uri="{FF2B5EF4-FFF2-40B4-BE49-F238E27FC236}">
                <a16:creationId xmlns:a16="http://schemas.microsoft.com/office/drawing/2014/main" id="{04446522-DFBB-4EA4-ABA6-D99B7EC28956}"/>
              </a:ext>
            </a:extLst>
          </p:cNvPr>
          <p:cNvSpPr>
            <a:spLocks noGrp="1"/>
          </p:cNvSpPr>
          <p:nvPr/>
        </p:nvSpPr>
        <p:spPr>
          <a:xfrm>
            <a:off x="457200" y="1314450"/>
            <a:ext cx="7410450" cy="462915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r>
              <a:rPr lang="en-US" dirty="0"/>
              <a:t>Dashboard link: </a:t>
            </a:r>
            <a:r>
              <a:rPr lang="en-GB" dirty="0">
                <a:hlinkClick r:id="rId4" tooltip="https://eac-quality-of-life-dashboard.streamlit.app/"/>
              </a:rPr>
              <a:t>https://eac-quality-of-life-dashboard.streamlit.app</a:t>
            </a:r>
            <a:r>
              <a:rPr lang="en-US" dirty="0"/>
              <a:t> </a:t>
            </a:r>
            <a:endParaRPr lang="en-KE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8889" y="2080086"/>
            <a:ext cx="6157269" cy="3463464"/>
          </a:xfrm>
          <a:prstGeom prst="rect">
            <a:avLst/>
          </a:prstGeom>
        </p:spPr>
      </p:pic>
      <p:sp>
        <p:nvSpPr>
          <p:cNvPr id="11" name="dashboard-map-frame">
            <a:extLst>
              <a:ext uri="{FF2B5EF4-FFF2-40B4-BE49-F238E27FC236}">
                <a16:creationId xmlns:a16="http://schemas.microsoft.com/office/drawing/2014/main" id="{6E5A6625-65D4-4867-8FFD-EE34D0BFA238}"/>
              </a:ext>
            </a:extLst>
          </p:cNvPr>
          <p:cNvSpPr>
            <a:spLocks noGrp="1"/>
          </p:cNvSpPr>
          <p:nvPr/>
        </p:nvSpPr>
        <p:spPr>
          <a:xfrm>
            <a:off x="8115300" y="1314450"/>
            <a:ext cx="34861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9E5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rcRect t="1188" b="1188"/>
          <a:stretch>
            <a:fillRect/>
          </a:stretch>
        </p:blipFill>
        <p:spPr>
          <a:xfrm>
            <a:off x="8210550" y="1409700"/>
            <a:ext cx="3295650" cy="1809750"/>
          </a:xfrm>
          <a:prstGeom prst="rect">
            <a:avLst/>
          </a:prstGeom>
        </p:spPr>
      </p:pic>
      <p:sp>
        <p:nvSpPr>
          <p:cNvPr id="13" name="dashboard-list-title">
            <a:extLst>
              <a:ext uri="{FF2B5EF4-FFF2-40B4-BE49-F238E27FC236}">
                <a16:creationId xmlns:a16="http://schemas.microsoft.com/office/drawing/2014/main" id="{63BF7C31-E769-446C-A0BE-DE5F519E716B}"/>
              </a:ext>
            </a:extLst>
          </p:cNvPr>
          <p:cNvSpPr>
            <a:spLocks noGrp="1"/>
          </p:cNvSpPr>
          <p:nvPr/>
        </p:nvSpPr>
        <p:spPr>
          <a:xfrm>
            <a:off x="8115300" y="3590925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What we built</a:t>
            </a:r>
          </a:p>
        </p:txBody>
      </p:sp>
      <p:sp>
        <p:nvSpPr>
          <p:cNvPr id="14" name="bullet-420">
            <a:extLst>
              <a:ext uri="{FF2B5EF4-FFF2-40B4-BE49-F238E27FC236}">
                <a16:creationId xmlns:a16="http://schemas.microsoft.com/office/drawing/2014/main" id="{E036AC18-543C-4D8B-95B6-5C80966D9B8B}"/>
              </a:ext>
            </a:extLst>
          </p:cNvPr>
          <p:cNvSpPr>
            <a:spLocks noGrp="1"/>
          </p:cNvSpPr>
          <p:nvPr/>
        </p:nvSpPr>
        <p:spPr>
          <a:xfrm>
            <a:off x="8115300" y="4076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bullet-text-420">
            <a:extLst>
              <a:ext uri="{FF2B5EF4-FFF2-40B4-BE49-F238E27FC236}">
                <a16:creationId xmlns:a16="http://schemas.microsoft.com/office/drawing/2014/main" id="{03483584-4B38-4B55-A88B-7FC5B264A792}"/>
              </a:ext>
            </a:extLst>
          </p:cNvPr>
          <p:cNvSpPr>
            <a:spLocks noGrp="1"/>
          </p:cNvSpPr>
          <p:nvPr/>
        </p:nvSpPr>
        <p:spPr>
          <a:xfrm>
            <a:off x="8324850" y="40005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4 KPI cards and a live summary</a:t>
            </a:r>
          </a:p>
        </p:txBody>
      </p:sp>
      <p:sp>
        <p:nvSpPr>
          <p:cNvPr id="16" name="bullet-462">
            <a:extLst>
              <a:ext uri="{FF2B5EF4-FFF2-40B4-BE49-F238E27FC236}">
                <a16:creationId xmlns:a16="http://schemas.microsoft.com/office/drawing/2014/main" id="{96E9AFE6-BBB9-4CA3-94CF-D3C1F64AD74C}"/>
              </a:ext>
            </a:extLst>
          </p:cNvPr>
          <p:cNvSpPr>
            <a:spLocks noGrp="1"/>
          </p:cNvSpPr>
          <p:nvPr/>
        </p:nvSpPr>
        <p:spPr>
          <a:xfrm>
            <a:off x="8115300" y="4476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bullet-text-462">
            <a:extLst>
              <a:ext uri="{FF2B5EF4-FFF2-40B4-BE49-F238E27FC236}">
                <a16:creationId xmlns:a16="http://schemas.microsoft.com/office/drawing/2014/main" id="{193A9295-1BAC-4DC3-BB7C-4626C99B03C3}"/>
              </a:ext>
            </a:extLst>
          </p:cNvPr>
          <p:cNvSpPr>
            <a:spLocks noGrp="1"/>
          </p:cNvSpPr>
          <p:nvPr/>
        </p:nvSpPr>
        <p:spPr>
          <a:xfrm>
            <a:off x="8324850" y="440055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Filters kept visible at the top of the sidebar</a:t>
            </a:r>
          </a:p>
        </p:txBody>
      </p:sp>
      <p:sp>
        <p:nvSpPr>
          <p:cNvPr id="18" name="bullet-504">
            <a:extLst>
              <a:ext uri="{FF2B5EF4-FFF2-40B4-BE49-F238E27FC236}">
                <a16:creationId xmlns:a16="http://schemas.microsoft.com/office/drawing/2014/main" id="{CFC6570D-3012-4FE7-9032-0156EDCB8114}"/>
              </a:ext>
            </a:extLst>
          </p:cNvPr>
          <p:cNvSpPr>
            <a:spLocks noGrp="1"/>
          </p:cNvSpPr>
          <p:nvPr/>
        </p:nvSpPr>
        <p:spPr>
          <a:xfrm>
            <a:off x="8115300" y="4876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bullet-text-504">
            <a:extLst>
              <a:ext uri="{FF2B5EF4-FFF2-40B4-BE49-F238E27FC236}">
                <a16:creationId xmlns:a16="http://schemas.microsoft.com/office/drawing/2014/main" id="{B83FF41F-FA5C-43F2-A907-924F974FDAC6}"/>
              </a:ext>
            </a:extLst>
          </p:cNvPr>
          <p:cNvSpPr>
            <a:spLocks noGrp="1"/>
          </p:cNvSpPr>
          <p:nvPr/>
        </p:nvSpPr>
        <p:spPr>
          <a:xfrm>
            <a:off x="8324850" y="48006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6 interactive charts, including a map</a:t>
            </a:r>
          </a:p>
        </p:txBody>
      </p:sp>
      <p:sp>
        <p:nvSpPr>
          <p:cNvPr id="20" name="bullet-546">
            <a:extLst>
              <a:ext uri="{FF2B5EF4-FFF2-40B4-BE49-F238E27FC236}">
                <a16:creationId xmlns:a16="http://schemas.microsoft.com/office/drawing/2014/main" id="{19C248B3-8AE9-47C1-8E3E-E7F6F7B85672}"/>
              </a:ext>
            </a:extLst>
          </p:cNvPr>
          <p:cNvSpPr>
            <a:spLocks noGrp="1"/>
          </p:cNvSpPr>
          <p:nvPr/>
        </p:nvSpPr>
        <p:spPr>
          <a:xfrm>
            <a:off x="8115300" y="5276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bullet-text-546">
            <a:extLst>
              <a:ext uri="{FF2B5EF4-FFF2-40B4-BE49-F238E27FC236}">
                <a16:creationId xmlns:a16="http://schemas.microsoft.com/office/drawing/2014/main" id="{906E038B-9866-4B63-8F57-52DDACA95006}"/>
              </a:ext>
            </a:extLst>
          </p:cNvPr>
          <p:cNvSpPr>
            <a:spLocks noGrp="1"/>
          </p:cNvSpPr>
          <p:nvPr/>
        </p:nvSpPr>
        <p:spPr>
          <a:xfrm>
            <a:off x="8324850" y="520065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01D1C"/>
                </a:solidFill>
                <a:latin typeface="Aptos"/>
                <a:ea typeface="Aptos"/>
                <a:cs typeface="Aptos"/>
              </a:rPr>
              <a:t>Country drill-down and CSV download</a:t>
            </a:r>
          </a:p>
        </p:txBody>
      </p:sp>
      <p:sp>
        <p:nvSpPr>
          <p:cNvPr id="22" name="bullet-588">
            <a:extLst>
              <a:ext uri="{FF2B5EF4-FFF2-40B4-BE49-F238E27FC236}">
                <a16:creationId xmlns:a16="http://schemas.microsoft.com/office/drawing/2014/main" id="{A28CD1A6-AF31-45C2-A95B-EE1FF7DFCE3F}"/>
              </a:ext>
            </a:extLst>
          </p:cNvPr>
          <p:cNvSpPr>
            <a:spLocks noGrp="1"/>
          </p:cNvSpPr>
          <p:nvPr/>
        </p:nvSpPr>
        <p:spPr>
          <a:xfrm>
            <a:off x="8115300" y="5676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bullet-text-588">
            <a:extLst>
              <a:ext uri="{FF2B5EF4-FFF2-40B4-BE49-F238E27FC236}">
                <a16:creationId xmlns:a16="http://schemas.microsoft.com/office/drawing/2014/main" id="{A063DCFA-9A7A-41E6-8C7D-B8D6451D5CF0}"/>
              </a:ext>
            </a:extLst>
          </p:cNvPr>
          <p:cNvSpPr>
            <a:spLocks noGrp="1"/>
          </p:cNvSpPr>
          <p:nvPr/>
        </p:nvSpPr>
        <p:spPr>
          <a:xfrm>
            <a:off x="8324850" y="5600700"/>
            <a:ext cx="321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201D1C"/>
                </a:solidFill>
                <a:latin typeface="Aptos"/>
                <a:ea typeface="Aptos"/>
                <a:cs typeface="Aptos"/>
              </a:rPr>
              <a:t>Data-quality tab and exact-year toggle</a:t>
            </a:r>
          </a:p>
        </p:txBody>
      </p:sp>
    </p:spTree>
    <p:extLst>
      <p:ext uri="{BB962C8B-B14F-4D97-AF65-F5344CB8AC3E}">
        <p14:creationId xmlns:p14="http://schemas.microsoft.com/office/powerpoint/2010/main" val="1292882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48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op-rule-gold">
            <a:extLst>
              <a:ext uri="{FF2B5EF4-FFF2-40B4-BE49-F238E27FC236}">
                <a16:creationId xmlns:a16="http://schemas.microsoft.com/office/drawing/2014/main" id="{75D82681-8B80-4F2D-8878-922BFCA918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57500" cy="76200"/>
          </a:xfrm>
          <a:prstGeom prst="rect">
            <a:avLst/>
          </a:prstGeom>
          <a:solidFill>
            <a:srgbClr val="C79633"/>
          </a:solidFill>
          <a:ln w="0">
            <a:solidFill>
              <a:srgbClr val="C7963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" name="top-rule-red">
            <a:extLst>
              <a:ext uri="{FF2B5EF4-FFF2-40B4-BE49-F238E27FC236}">
                <a16:creationId xmlns:a16="http://schemas.microsoft.com/office/drawing/2014/main" id="{A21B28D9-A5AF-41BA-9737-1150925521FE}"/>
              </a:ext>
            </a:extLst>
          </p:cNvPr>
          <p:cNvSpPr>
            <a:spLocks noGrp="1"/>
          </p:cNvSpPr>
          <p:nvPr/>
        </p:nvSpPr>
        <p:spPr>
          <a:xfrm>
            <a:off x="2857500" y="0"/>
            <a:ext cx="1714500" cy="76200"/>
          </a:xfrm>
          <a:prstGeom prst="rect">
            <a:avLst/>
          </a:prstGeom>
          <a:solidFill>
            <a:srgbClr val="E52D2C"/>
          </a:solidFill>
          <a:ln w="0">
            <a:solidFill>
              <a:srgbClr val="E52D2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op-rule-blue">
            <a:extLst>
              <a:ext uri="{FF2B5EF4-FFF2-40B4-BE49-F238E27FC236}">
                <a16:creationId xmlns:a16="http://schemas.microsoft.com/office/drawing/2014/main" id="{7BC7FB29-CBE1-4261-A3C3-4B28832B6426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7620000" cy="76200"/>
          </a:xfrm>
          <a:prstGeom prst="rect">
            <a:avLst/>
          </a:prstGeom>
          <a:solidFill>
            <a:srgbClr val="3848A2"/>
          </a:solidFill>
          <a:ln w="0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lide-kicker">
            <a:extLst>
              <a:ext uri="{FF2B5EF4-FFF2-40B4-BE49-F238E27FC236}">
                <a16:creationId xmlns:a16="http://schemas.microsoft.com/office/drawing/2014/main" id="{F9D10908-D87F-4123-8F16-23343A6C5B5A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FINAL DELIVERABLES</a:t>
            </a:r>
          </a:p>
        </p:txBody>
      </p:sp>
      <p:sp>
        <p:nvSpPr>
          <p:cNvPr id="5" name="slide-title">
            <a:extLst>
              <a:ext uri="{FF2B5EF4-FFF2-40B4-BE49-F238E27FC236}">
                <a16:creationId xmlns:a16="http://schemas.microsoft.com/office/drawing/2014/main" id="{E3CFECE6-4892-4D07-BE53-E5EA2F051778}"/>
              </a:ext>
            </a:extLst>
          </p:cNvPr>
          <p:cNvSpPr>
            <a:spLocks noGrp="1"/>
          </p:cNvSpPr>
          <p:nvPr/>
        </p:nvSpPr>
        <p:spPr>
          <a:xfrm>
            <a:off x="590550" y="495300"/>
            <a:ext cx="8667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Submission package &amp; GitHub</a:t>
            </a:r>
          </a:p>
        </p:txBody>
      </p:sp>
      <p:sp>
        <p:nvSpPr>
          <p:cNvPr id="6" name="logo-clear-space">
            <a:extLst>
              <a:ext uri="{FF2B5EF4-FFF2-40B4-BE49-F238E27FC236}">
                <a16:creationId xmlns:a16="http://schemas.microsoft.com/office/drawing/2014/main" id="{E47854B4-EAE1-4A93-8B76-FF031710F669}"/>
              </a:ext>
            </a:extLst>
          </p:cNvPr>
          <p:cNvSpPr>
            <a:spLocks noGrp="1"/>
          </p:cNvSpPr>
          <p:nvPr/>
        </p:nvSpPr>
        <p:spPr>
          <a:xfrm>
            <a:off x="9925050" y="133350"/>
            <a:ext cx="17907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34588" y="190500"/>
            <a:ext cx="1571625" cy="628650"/>
          </a:xfrm>
          <a:prstGeom prst="rect">
            <a:avLst/>
          </a:prstGeom>
        </p:spPr>
      </p:pic>
      <p:sp>
        <p:nvSpPr>
          <p:cNvPr id="8" name="footer-label">
            <a:extLst>
              <a:ext uri="{FF2B5EF4-FFF2-40B4-BE49-F238E27FC236}">
                <a16:creationId xmlns:a16="http://schemas.microsoft.com/office/drawing/2014/main" id="{0A134AE8-8D64-4D8F-B612-F77DCBBE3E65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4CE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CE67"/>
                </a:solidFill>
                <a:latin typeface="Aptos"/>
                <a:ea typeface="Aptos"/>
                <a:cs typeface="Aptos"/>
              </a:rPr>
              <a:t>GROUP 1  ·  EAST AFRICAN COMMUNITY</a:t>
            </a:r>
          </a:p>
        </p:txBody>
      </p:sp>
      <p:sp>
        <p:nvSpPr>
          <p:cNvPr id="9" name="footer-number">
            <a:extLst>
              <a:ext uri="{FF2B5EF4-FFF2-40B4-BE49-F238E27FC236}">
                <a16:creationId xmlns:a16="http://schemas.microsoft.com/office/drawing/2014/main" id="{68BE9CB1-D275-443B-BFA0-2BCA2188FF02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deliverables-panel">
            <a:extLst>
              <a:ext uri="{FF2B5EF4-FFF2-40B4-BE49-F238E27FC236}">
                <a16:creationId xmlns:a16="http://schemas.microsoft.com/office/drawing/2014/main" id="{D8D854F5-B531-4415-B68E-AC63A10C62C1}"/>
              </a:ext>
            </a:extLst>
          </p:cNvPr>
          <p:cNvSpPr>
            <a:spLocks noGrp="1"/>
          </p:cNvSpPr>
          <p:nvPr/>
        </p:nvSpPr>
        <p:spPr>
          <a:xfrm>
            <a:off x="590550" y="1490330"/>
            <a:ext cx="4953000" cy="3886200"/>
          </a:xfrm>
          <a:prstGeom prst="roundRect">
            <a:avLst>
              <a:gd name="adj" fmla="val 1961"/>
            </a:avLst>
          </a:prstGeom>
          <a:solidFill>
            <a:srgbClr val="2F3B84"/>
          </a:solidFill>
          <a:ln w="9525">
            <a:solidFill>
              <a:srgbClr val="3848A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deliverables-title">
            <a:extLst>
              <a:ext uri="{FF2B5EF4-FFF2-40B4-BE49-F238E27FC236}">
                <a16:creationId xmlns:a16="http://schemas.microsoft.com/office/drawing/2014/main" id="{2BC9C548-097A-459C-84B9-E24094DD1723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12" name="bullet-236">
            <a:extLst>
              <a:ext uri="{FF2B5EF4-FFF2-40B4-BE49-F238E27FC236}">
                <a16:creationId xmlns:a16="http://schemas.microsoft.com/office/drawing/2014/main" id="{E0BFEA65-92CF-4F8D-AA04-560D40AF27FD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bullet-text-236">
            <a:extLst>
              <a:ext uri="{FF2B5EF4-FFF2-40B4-BE49-F238E27FC236}">
                <a16:creationId xmlns:a16="http://schemas.microsoft.com/office/drawing/2014/main" id="{7BD3B890-FD5A-471B-813E-BBA038B80264}"/>
              </a:ext>
            </a:extLst>
          </p:cNvPr>
          <p:cNvSpPr>
            <a:spLocks noGrp="1"/>
          </p:cNvSpPr>
          <p:nvPr/>
        </p:nvSpPr>
        <p:spPr>
          <a:xfrm>
            <a:off x="1085850" y="2247900"/>
            <a:ext cx="4076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Google Colab notebook (.ipynb)</a:t>
            </a:r>
          </a:p>
        </p:txBody>
      </p:sp>
      <p:sp>
        <p:nvSpPr>
          <p:cNvPr id="14" name="bullet-284">
            <a:extLst>
              <a:ext uri="{FF2B5EF4-FFF2-40B4-BE49-F238E27FC236}">
                <a16:creationId xmlns:a16="http://schemas.microsoft.com/office/drawing/2014/main" id="{259CC936-9F52-4B0C-AAB6-B82A848FB27F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bullet-text-284">
            <a:extLst>
              <a:ext uri="{FF2B5EF4-FFF2-40B4-BE49-F238E27FC236}">
                <a16:creationId xmlns:a16="http://schemas.microsoft.com/office/drawing/2014/main" id="{D38BCCF0-5C9D-477B-A64C-63EB45A5C726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4076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World Bank responses (.json)</a:t>
            </a:r>
          </a:p>
        </p:txBody>
      </p:sp>
      <p:sp>
        <p:nvSpPr>
          <p:cNvPr id="16" name="bullet-332">
            <a:extLst>
              <a:ext uri="{FF2B5EF4-FFF2-40B4-BE49-F238E27FC236}">
                <a16:creationId xmlns:a16="http://schemas.microsoft.com/office/drawing/2014/main" id="{068D1958-55BC-45A8-A289-FB8FD9716E3F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bullet-text-332">
            <a:extLst>
              <a:ext uri="{FF2B5EF4-FFF2-40B4-BE49-F238E27FC236}">
                <a16:creationId xmlns:a16="http://schemas.microsoft.com/office/drawing/2014/main" id="{15C1B3F7-F9B9-4E19-AE65-8834089FD56B}"/>
              </a:ext>
            </a:extLst>
          </p:cNvPr>
          <p:cNvSpPr>
            <a:spLocks noGrp="1"/>
          </p:cNvSpPr>
          <p:nvPr/>
        </p:nvSpPr>
        <p:spPr>
          <a:xfrm>
            <a:off x="1085850" y="3162300"/>
            <a:ext cx="4076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Cleaned analysis dataset (.csv)</a:t>
            </a:r>
          </a:p>
        </p:txBody>
      </p:sp>
      <p:sp>
        <p:nvSpPr>
          <p:cNvPr id="20" name="bullet-428">
            <a:extLst>
              <a:ext uri="{FF2B5EF4-FFF2-40B4-BE49-F238E27FC236}">
                <a16:creationId xmlns:a16="http://schemas.microsoft.com/office/drawing/2014/main" id="{AE04FEA3-CC04-4876-8A0D-045F34793D79}"/>
              </a:ext>
            </a:extLst>
          </p:cNvPr>
          <p:cNvSpPr>
            <a:spLocks noGrp="1"/>
          </p:cNvSpPr>
          <p:nvPr/>
        </p:nvSpPr>
        <p:spPr>
          <a:xfrm>
            <a:off x="876300" y="3716963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bullet-text-428">
            <a:extLst>
              <a:ext uri="{FF2B5EF4-FFF2-40B4-BE49-F238E27FC236}">
                <a16:creationId xmlns:a16="http://schemas.microsoft.com/office/drawing/2014/main" id="{D79CC97C-CE86-4324-8D27-943E9B484CAA}"/>
              </a:ext>
            </a:extLst>
          </p:cNvPr>
          <p:cNvSpPr>
            <a:spLocks noGrp="1"/>
          </p:cNvSpPr>
          <p:nvPr/>
        </p:nvSpPr>
        <p:spPr>
          <a:xfrm>
            <a:off x="1085850" y="3630128"/>
            <a:ext cx="4076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</a:t>
            </a:r>
            <a:r>
              <a:rPr sz="15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dashboard project</a:t>
            </a:r>
          </a:p>
        </p:txBody>
      </p:sp>
      <p:sp>
        <p:nvSpPr>
          <p:cNvPr id="22" name="bullet-476">
            <a:extLst>
              <a:ext uri="{FF2B5EF4-FFF2-40B4-BE49-F238E27FC236}">
                <a16:creationId xmlns:a16="http://schemas.microsoft.com/office/drawing/2014/main" id="{5BA1B83B-EDF9-469D-AF28-F61C85201551}"/>
              </a:ext>
            </a:extLst>
          </p:cNvPr>
          <p:cNvSpPr>
            <a:spLocks noGrp="1"/>
          </p:cNvSpPr>
          <p:nvPr/>
        </p:nvSpPr>
        <p:spPr>
          <a:xfrm>
            <a:off x="876300" y="4091114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CE67"/>
          </a:solidFill>
          <a:ln w="0">
            <a:solidFill>
              <a:srgbClr val="F4CE6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bullet-text-476">
            <a:extLst>
              <a:ext uri="{FF2B5EF4-FFF2-40B4-BE49-F238E27FC236}">
                <a16:creationId xmlns:a16="http://schemas.microsoft.com/office/drawing/2014/main" id="{5D30CADD-3DAB-4253-88F1-9E2D9FCFB435}"/>
              </a:ext>
            </a:extLst>
          </p:cNvPr>
          <p:cNvSpPr>
            <a:spLocks noGrp="1"/>
          </p:cNvSpPr>
          <p:nvPr/>
        </p:nvSpPr>
        <p:spPr>
          <a:xfrm>
            <a:off x="1085850" y="4044800"/>
            <a:ext cx="4076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Presentation slides (.pptx)</a:t>
            </a:r>
          </a:p>
        </p:txBody>
      </p:sp>
      <p:sp>
        <p:nvSpPr>
          <p:cNvPr id="24" name="github-panel">
            <a:extLst>
              <a:ext uri="{FF2B5EF4-FFF2-40B4-BE49-F238E27FC236}">
                <a16:creationId xmlns:a16="http://schemas.microsoft.com/office/drawing/2014/main" id="{B778AE52-79CF-4864-A9AC-03A2714633E8}"/>
              </a:ext>
            </a:extLst>
          </p:cNvPr>
          <p:cNvSpPr>
            <a:spLocks noGrp="1"/>
          </p:cNvSpPr>
          <p:nvPr/>
        </p:nvSpPr>
        <p:spPr>
          <a:xfrm>
            <a:off x="5905500" y="1447800"/>
            <a:ext cx="5695950" cy="388620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github-title">
            <a:extLst>
              <a:ext uri="{FF2B5EF4-FFF2-40B4-BE49-F238E27FC236}">
                <a16:creationId xmlns:a16="http://schemas.microsoft.com/office/drawing/2014/main" id="{91F0EAC5-68C9-4D5D-AA37-97A19605806E}"/>
              </a:ext>
            </a:extLst>
          </p:cNvPr>
          <p:cNvSpPr>
            <a:spLocks noGrp="1"/>
          </p:cNvSpPr>
          <p:nvPr/>
        </p:nvSpPr>
        <p:spPr>
          <a:xfrm>
            <a:off x="6229350" y="1733550"/>
            <a:ext cx="476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3848A2"/>
                </a:solidFill>
                <a:latin typeface="Aptos"/>
                <a:ea typeface="Aptos"/>
                <a:cs typeface="Aptos"/>
              </a:rPr>
              <a:t>GitHub repository</a:t>
            </a:r>
          </a:p>
        </p:txBody>
      </p:sp>
      <p:sp>
        <p:nvSpPr>
          <p:cNvPr id="26" name="github-link">
            <a:extLst>
              <a:ext uri="{FF2B5EF4-FFF2-40B4-BE49-F238E27FC236}">
                <a16:creationId xmlns:a16="http://schemas.microsoft.com/office/drawing/2014/main" id="{A5CCB511-2322-430B-97AB-A3938085BC77}"/>
              </a:ext>
            </a:extLst>
          </p:cNvPr>
          <p:cNvSpPr>
            <a:spLocks noGrp="1"/>
          </p:cNvSpPr>
          <p:nvPr/>
        </p:nvSpPr>
        <p:spPr>
          <a:xfrm>
            <a:off x="6229350" y="2381250"/>
            <a:ext cx="4953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00" lnSpcReduction="10000"/>
          </a:bodyPr>
          <a:lstStyle/>
          <a:p>
            <a:pPr>
              <a:defRPr sz="187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br>
              <a:rPr lang="en-US" sz="2500" b="1" u="sng" dirty="0">
                <a:solidFill>
                  <a:srgbClr val="3848A2"/>
                </a:solidFill>
                <a:hlinkClick r:id="rId4"/>
              </a:rPr>
            </a:br>
            <a:r>
              <a:rPr lang="en-GB" sz="2500" b="1" u="sng" dirty="0">
                <a:solidFill>
                  <a:srgbClr val="3848A2"/>
                </a:solidFill>
                <a:hlinkClick r:id="rId4"/>
              </a:rPr>
              <a:t>https://github.com/Mutevu-Joel/eac-quality-of-life-dashboard</a:t>
            </a:r>
          </a:p>
          <a:p>
            <a:pPr>
              <a:defRPr sz="1875" b="1">
                <a:solidFill>
                  <a:srgbClr val="3848A2"/>
                </a:solidFill>
                <a:latin typeface="Aptos"/>
                <a:ea typeface="Aptos"/>
                <a:cs typeface="Aptos"/>
              </a:defRPr>
            </a:pPr>
            <a:endParaRPr sz="2500" b="1" u="sng" dirty="0">
              <a:solidFill>
                <a:srgbClr val="3848A2"/>
              </a:solidFill>
              <a:hlinkClick r:id="rId4"/>
            </a:endParaRPr>
          </a:p>
        </p:txBody>
      </p:sp>
      <p:sp>
        <p:nvSpPr>
          <p:cNvPr id="27" name="github-explainer">
            <a:extLst>
              <a:ext uri="{FF2B5EF4-FFF2-40B4-BE49-F238E27FC236}">
                <a16:creationId xmlns:a16="http://schemas.microsoft.com/office/drawing/2014/main" id="{9093C58B-F617-4B16-834D-18A242F1BAB2}"/>
              </a:ext>
            </a:extLst>
          </p:cNvPr>
          <p:cNvSpPr>
            <a:spLocks noGrp="1"/>
          </p:cNvSpPr>
          <p:nvPr/>
        </p:nvSpPr>
        <p:spPr>
          <a:xfrm>
            <a:off x="6229350" y="3619500"/>
            <a:ext cx="495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201D1C"/>
                </a:solidFill>
                <a:latin typeface="Aptos"/>
                <a:ea typeface="Aptos"/>
                <a:cs typeface="Aptos"/>
              </a:defRPr>
            </a:pPr>
            <a:endParaRPr sz="1650" b="0" dirty="0">
              <a:solidFill>
                <a:srgbClr val="201D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thank-you">
            <a:extLst>
              <a:ext uri="{FF2B5EF4-FFF2-40B4-BE49-F238E27FC236}">
                <a16:creationId xmlns:a16="http://schemas.microsoft.com/office/drawing/2014/main" id="{EEEE91FB-417D-465A-95E7-839CCAC27AD3}"/>
              </a:ext>
            </a:extLst>
          </p:cNvPr>
          <p:cNvSpPr>
            <a:spLocks noGrp="1"/>
          </p:cNvSpPr>
          <p:nvPr/>
        </p:nvSpPr>
        <p:spPr>
          <a:xfrm>
            <a:off x="7728540" y="3790950"/>
            <a:ext cx="4953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C796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79633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250684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1509</Words>
  <Application>Microsoft Macintosh PowerPoint</Application>
  <DocSecurity>0</DocSecurity>
  <PresentationFormat>Widescreen</PresentationFormat>
  <Paragraphs>254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Joel Mutevu</cp:lastModifiedBy>
  <cp:revision>6</cp:revision>
  <dcterms:created xsi:type="dcterms:W3CDTF">2026-08-12T08:00:04Z</dcterms:created>
  <dcterms:modified xsi:type="dcterms:W3CDTF">2026-08-13T15:49:52Z</dcterms:modified>
</cp:coreProperties>
</file>